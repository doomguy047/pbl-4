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68" r:id="rId5"/>
    <p:sldId id="259" r:id="rId6"/>
    <p:sldId id="273" r:id="rId7"/>
    <p:sldId id="269" r:id="rId8"/>
    <p:sldId id="260" r:id="rId9"/>
    <p:sldId id="262" r:id="rId10"/>
    <p:sldId id="261" r:id="rId11"/>
    <p:sldId id="270" r:id="rId12"/>
    <p:sldId id="271" r:id="rId13"/>
    <p:sldId id="272" r:id="rId14"/>
    <p:sldId id="275" r:id="rId15"/>
    <p:sldId id="276" r:id="rId16"/>
    <p:sldId id="278" r:id="rId17"/>
    <p:sldId id="280" r:id="rId18"/>
    <p:sldId id="266" r:id="rId19"/>
    <p:sldId id="267" r:id="rId20"/>
    <p:sldId id="263" r:id="rId21"/>
    <p:sldId id="281" r:id="rId22"/>
    <p:sldId id="282" r:id="rId23"/>
    <p:sldId id="264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958"/>
    <p:restoredTop sz="87559"/>
  </p:normalViewPr>
  <p:slideViewPr>
    <p:cSldViewPr snapToGrid="0">
      <p:cViewPr>
        <p:scale>
          <a:sx n="81" d="100"/>
          <a:sy n="81" d="100"/>
        </p:scale>
        <p:origin x="144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D13F9D-8DA4-0F48-B748-3CC9B9AC2730}" type="datetimeFigureOut">
              <a:rPr lang="en-US" smtClean="0"/>
              <a:t>4/14/26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BCEF02-44C6-764A-A959-9DB6DD28C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630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www.sentinelone.com</a:t>
            </a:r>
            <a:r>
              <a:rPr lang="en-US" dirty="0"/>
              <a:t>/cybersecurity-101/identity-security/active-directory-monitoring/ (Source for 90%)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BCEF02-44C6-764A-A959-9DB6DD28C3B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0283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www.gartner.com</a:t>
            </a:r>
            <a:r>
              <a:rPr lang="en-US" dirty="0"/>
              <a:t>/</a:t>
            </a:r>
            <a:r>
              <a:rPr lang="en-US" dirty="0" err="1"/>
              <a:t>en</a:t>
            </a:r>
            <a:r>
              <a:rPr lang="en-US" dirty="0"/>
              <a:t>/newsroom/press-releases/2023-01-23-gartner-predicts-10-percent-of-large-enterprises-will-have-a-mature-and-measurable-zero-trust-program-in-place-by-2026</a:t>
            </a:r>
          </a:p>
          <a:p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www.gartner.com</a:t>
            </a:r>
            <a:r>
              <a:rPr lang="en-US" dirty="0"/>
              <a:t>/</a:t>
            </a:r>
            <a:r>
              <a:rPr lang="en-US" dirty="0" err="1"/>
              <a:t>en</a:t>
            </a:r>
            <a:r>
              <a:rPr lang="en-US" dirty="0"/>
              <a:t>/newsroom/press-releases/2024-04-22-gartner-survey-reveals-63-percent-of-organizations-worldwide-have-implemented-a-zero-trust-strategy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BCEF02-44C6-764A-A959-9DB6DD28C3B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5762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7369E-1D01-4E18-A41B-972E5282A5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7ACB01-ADDD-13C8-7D78-4FD47D1E3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7438D-EA18-361E-D59E-153377263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14/04/26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E2FD9-74C2-C9B0-1BDC-57B92DCB6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74D17-63FA-E32E-A58E-466459435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0081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BA9A7-DC78-3CB3-7F00-929E421E9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F4783-8B8F-B836-F68D-81BDF16A1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E82BE-60AE-D797-7868-81B8EF463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14/04/26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90722-9270-7EDB-981C-B923AA08C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E6731-DBE6-4F74-E2CF-7659DBC87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9242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B8AFF-E64A-AF8D-BBC2-E5AB945B4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ACB9A4-3B4F-7FE6-9B28-F5EF72B25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A73C0-5E6E-B28A-6C22-06D9AC472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14/04/26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49FA3B-4073-0F86-8AC8-81E0E4C3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5269F-612E-B784-B48A-95AA07910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24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D166B-106E-C76B-9CE8-1B9A4AE5C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3AF0E-E8F2-1B19-B65C-0E1CC0813A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CFFB13-732B-DEF8-DBEC-5F73E2395F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73C03-C9D7-F051-B57E-8DA06873D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14/04/26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5D1B14-3A56-41BB-4E4A-4735998AD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854A9C-028F-0B55-463A-1087581A9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903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166EC-9430-6B3D-E0CE-0A71B38A9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E26AD1-F80A-C09B-B640-E65D99E68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C293B4-0027-A04C-BA3E-441C93A1D8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4E42C3-BCA9-FB95-D8DC-7F3044ADD3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C8EFB4-7BB2-F8E3-21FC-7E4A10DFDE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B1C773-744A-FCD3-C078-3DC992C32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14/04/26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F26583-570F-F397-D583-9963BD0D0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F8FC52-BDE3-9E21-7004-9001CC624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64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917DB-BC11-A965-7D47-A83062720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559EBB-66AC-0A22-FB25-AA24D1882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14/04/26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21C889-A42D-7ECD-6189-48F6199C5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3D6C85-1A5C-85A2-D47F-73050C49C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0732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56DA96-DA53-0AED-0F58-E803782E3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14/04/26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8408AC-42F9-A3E6-20C6-19B6AFB04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579749-EC75-7164-FBE8-61C5FD951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23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BE5F6-B24D-5E61-DC38-DA3F87B34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0E6B7-31E9-4177-5C1F-03A7DBD36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910E19-657E-B541-E036-959BA41875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A2AEC1-909F-60C3-702B-6244A8A7D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14/04/26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E9E6BA-2E7B-3E57-2F0C-5F2FD1719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B71D75-64B2-1389-FADB-ED9520B8A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7443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1262D-CF25-FD3A-5B0C-AFA7F0A7D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C1E524-18D7-464E-3F34-14CBF4862E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712348-99C4-F005-5D92-24A299F99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C898F6-D595-1FDE-2158-79E6686C8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14/04/26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E67F9F-625D-1107-9BCE-138B29817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C0215-9ED1-CB53-652D-46D93AD26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0034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EDE86-64B7-9F0A-5001-6F43A0FA6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37D706-8AAA-2524-04BB-26C4624206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8E778-061C-459E-CD0C-58DCA0CF7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14/04/26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FE4EF-7849-CFF9-1385-7BDB42DF6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A96F9-D0E3-05A9-C32F-CCFCFCE6E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948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D04E30-06E1-5212-4B6D-25886B9C37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1C275C-3D2D-2452-9149-89BBE7CA68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131ED-A5B2-3FF2-8E5C-283664ABE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14/04/26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C8846-9586-A23A-3D98-740B85ED2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27319-B31F-9567-7E64-8BEAB1A3C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769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279A75-0843-3E26-FA3D-7955B436D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A1EE1-247A-E887-762B-4BC2DBFD3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3DF53D-E00E-7D7F-402F-506A960A9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FACB4A-C46D-47C8-95BF-463F9F428625}" type="datetimeFigureOut">
              <a:rPr lang="en-IN" smtClean="0"/>
              <a:t>14/04/26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7DC96-5252-D529-FF28-16B0D99D0D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4C6E2-66C6-AF10-CC28-03DE3A9BB6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52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FB14B-13FD-63D0-B558-FA2B9FA1B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542" y="2732221"/>
            <a:ext cx="8955506" cy="1433498"/>
          </a:xfrm>
        </p:spPr>
        <p:txBody>
          <a:bodyPr>
            <a:noAutofit/>
          </a:bodyPr>
          <a:lstStyle/>
          <a:p>
            <a:r>
              <a:rPr lang="en-IN" sz="4000" b="1" dirty="0"/>
              <a:t>Zero Trust Security – An Identity-Based Attack Evaluation in Enterprise Environments</a:t>
            </a: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DAA6DE-3B6C-1A2F-6135-52EEA7D165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7411" y="4890977"/>
            <a:ext cx="3239387" cy="1222744"/>
          </a:xfrm>
        </p:spPr>
        <p:txBody>
          <a:bodyPr/>
          <a:lstStyle/>
          <a:p>
            <a:r>
              <a:rPr lang="en-IN" dirty="0"/>
              <a:t>Submitted By:</a:t>
            </a:r>
            <a:br>
              <a:rPr lang="en-IN" dirty="0"/>
            </a:br>
            <a:r>
              <a:rPr lang="en-IN" dirty="0"/>
              <a:t>NAMAN JAIN</a:t>
            </a:r>
          </a:p>
          <a:p>
            <a:r>
              <a:rPr lang="en-IN" dirty="0"/>
              <a:t>23FE10CSE00031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265C3A1-7DE8-FF2B-D7D7-6CB2859C63C2}"/>
              </a:ext>
            </a:extLst>
          </p:cNvPr>
          <p:cNvSpPr txBox="1">
            <a:spLocks/>
          </p:cNvSpPr>
          <p:nvPr/>
        </p:nvSpPr>
        <p:spPr>
          <a:xfrm>
            <a:off x="7875203" y="4883885"/>
            <a:ext cx="3239386" cy="1222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Supervised By:</a:t>
            </a:r>
            <a:br>
              <a:rPr lang="en-IN" dirty="0"/>
            </a:br>
            <a:r>
              <a:rPr lang="en-IN" dirty="0"/>
              <a:t>Dr. Susheela Vishnoi</a:t>
            </a:r>
          </a:p>
          <a:p>
            <a:endParaRPr lang="en-IN" dirty="0"/>
          </a:p>
        </p:txBody>
      </p:sp>
      <p:pic>
        <p:nvPicPr>
          <p:cNvPr id="8" name="Picture 7" descr="A black and white text&#10;&#10;AI-generated content may be incorrect.">
            <a:extLst>
              <a:ext uri="{FF2B5EF4-FFF2-40B4-BE49-F238E27FC236}">
                <a16:creationId xmlns:a16="http://schemas.microsoft.com/office/drawing/2014/main" id="{2AD7126F-2B55-B457-37C9-C05FFDD4D2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56" y="36039"/>
            <a:ext cx="4174039" cy="122274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8466A34-BD34-5DB1-EC2B-14EE0BD5593C}"/>
              </a:ext>
            </a:extLst>
          </p:cNvPr>
          <p:cNvSpPr txBox="1">
            <a:spLocks/>
          </p:cNvSpPr>
          <p:nvPr/>
        </p:nvSpPr>
        <p:spPr>
          <a:xfrm>
            <a:off x="1527542" y="1258784"/>
            <a:ext cx="9144000" cy="111227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800" b="1" dirty="0"/>
              <a:t>School of Computer Science and Engineering</a:t>
            </a:r>
          </a:p>
          <a:p>
            <a:pPr>
              <a:lnSpc>
                <a:spcPct val="150000"/>
              </a:lnSpc>
            </a:pPr>
            <a:r>
              <a:rPr lang="en-IN" sz="2800" b="1" dirty="0"/>
              <a:t>Department of Computer Science and Engineering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7CFC10-8826-949B-B117-FA84896D3D5A}"/>
              </a:ext>
            </a:extLst>
          </p:cNvPr>
          <p:cNvSpPr txBox="1"/>
          <p:nvPr/>
        </p:nvSpPr>
        <p:spPr>
          <a:xfrm>
            <a:off x="1899557" y="4035090"/>
            <a:ext cx="83928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Awareness-driven experimental evaluation of identity-based attacks under weak and Zero Trust configurations</a:t>
            </a:r>
          </a:p>
        </p:txBody>
      </p:sp>
    </p:spTree>
    <p:extLst>
      <p:ext uri="{BB962C8B-B14F-4D97-AF65-F5344CB8AC3E}">
        <p14:creationId xmlns:p14="http://schemas.microsoft.com/office/powerpoint/2010/main" val="380237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61AEC-0C6A-CF04-A6F2-DE0426255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6A8CF-2937-6FE2-6F8A-377D2DF1D6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Introduction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Literature Review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Problem Statement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Objectives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Proposed Methodology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Results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Outcome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References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7219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5A96B-B72E-0C72-F61B-C99183D10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1CBD1-1236-BD10-F9B4-E2675BA38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Active Directory in Modern Enterprises</a:t>
            </a:r>
          </a:p>
          <a:p>
            <a:r>
              <a:rPr lang="en-IN" sz="2400" dirty="0"/>
              <a:t>Active Directory serves as the backbone of enterprise identity and access management.</a:t>
            </a:r>
          </a:p>
          <a:p>
            <a:r>
              <a:rPr lang="en-IN" sz="2400" dirty="0"/>
              <a:t>It provides centralized authentication, authorization, and account control.</a:t>
            </a:r>
          </a:p>
          <a:p>
            <a:r>
              <a:rPr lang="en-IN" sz="2400" dirty="0"/>
              <a:t>Identity-based attacks are among the most common enterprise threat vectors.</a:t>
            </a:r>
          </a:p>
          <a:p>
            <a:r>
              <a:rPr lang="en-IN" sz="2400" dirty="0"/>
              <a:t>Credential compromise often enables reconnaissance and lateral movement.</a:t>
            </a:r>
          </a:p>
          <a:p>
            <a:r>
              <a:rPr lang="en-IN" sz="2400" dirty="0"/>
              <a:t>AD is a high-value target in enterprise environments.</a:t>
            </a:r>
          </a:p>
          <a:p>
            <a:r>
              <a:rPr lang="en-IN" sz="2400" dirty="0"/>
              <a:t>Over 90% of enterprises rely on Active Directory or AD-based identity systems for authentication and access control.</a:t>
            </a:r>
          </a:p>
        </p:txBody>
      </p:sp>
    </p:spTree>
    <p:extLst>
      <p:ext uri="{BB962C8B-B14F-4D97-AF65-F5344CB8AC3E}">
        <p14:creationId xmlns:p14="http://schemas.microsoft.com/office/powerpoint/2010/main" val="2878976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8CE7B-AC61-C6DB-F824-001BF0DD3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45C67-8BF2-3658-3E50-0DF89C34D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08DB4-BE49-780F-6538-686CC7B3C7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Shift Towards Zero Trust Security</a:t>
            </a:r>
          </a:p>
          <a:p>
            <a:r>
              <a:rPr lang="en-IN" sz="2400" dirty="0"/>
              <a:t>Modern enterprises adopt Zero Trust security principles.</a:t>
            </a:r>
          </a:p>
          <a:p>
            <a:r>
              <a:rPr lang="en-IN" sz="2400" dirty="0"/>
              <a:t>63% of organizations worldwide have implemented a Zero Trust strategy.</a:t>
            </a:r>
          </a:p>
          <a:p>
            <a:r>
              <a:rPr lang="en-IN" sz="2400" dirty="0"/>
              <a:t>Only 10% of large enterprises are expected to achieve mature Zero Trust implementation by 2026.</a:t>
            </a:r>
          </a:p>
          <a:p>
            <a:r>
              <a:rPr lang="en-IN" sz="2400" dirty="0"/>
              <a:t>Enforcement of least privilege access policies.</a:t>
            </a:r>
          </a:p>
          <a:p>
            <a:r>
              <a:rPr lang="en-IN" sz="2400" dirty="0"/>
              <a:t>Policy-based hardening through Group Policy (GPO).</a:t>
            </a:r>
          </a:p>
          <a:p>
            <a:r>
              <a:rPr lang="en-IN" sz="2400" dirty="0"/>
              <a:t>Host-based firewall enforcement and segmentation.</a:t>
            </a:r>
          </a:p>
          <a:p>
            <a:r>
              <a:rPr lang="en-IN" sz="2400" dirty="0"/>
              <a:t>Secure-by-default configurations alter attack outcomes.</a:t>
            </a:r>
          </a:p>
        </p:txBody>
      </p:sp>
    </p:spTree>
    <p:extLst>
      <p:ext uri="{BB962C8B-B14F-4D97-AF65-F5344CB8AC3E}">
        <p14:creationId xmlns:p14="http://schemas.microsoft.com/office/powerpoint/2010/main" val="2475984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5647D-9B85-4135-FDC8-4412998CA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5F665-7E3B-0A75-0EE5-8FA0D35D26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Exploitation-Focused Active Directory Studies</a:t>
            </a:r>
          </a:p>
          <a:p>
            <a:pPr marL="0" indent="0">
              <a:buNone/>
            </a:pPr>
            <a:r>
              <a:rPr lang="en-IN" sz="2400" dirty="0"/>
              <a:t>Many academic studies demonstrate:</a:t>
            </a:r>
          </a:p>
          <a:p>
            <a:r>
              <a:rPr lang="en-IN" sz="2400" dirty="0"/>
              <a:t>Privilege escalation</a:t>
            </a:r>
          </a:p>
          <a:p>
            <a:r>
              <a:rPr lang="en-IN" sz="2400" dirty="0"/>
              <a:t>Lateral movement</a:t>
            </a:r>
          </a:p>
          <a:p>
            <a:r>
              <a:rPr lang="en-IN" sz="2400" dirty="0"/>
              <a:t>Domain takeover</a:t>
            </a:r>
          </a:p>
          <a:p>
            <a:pPr marL="0" indent="0">
              <a:buNone/>
            </a:pPr>
            <a:r>
              <a:rPr lang="en-IN" sz="2400" dirty="0"/>
              <a:t>Often assume:</a:t>
            </a:r>
          </a:p>
          <a:p>
            <a:r>
              <a:rPr lang="en-IN" sz="2400" dirty="0"/>
              <a:t>Weak configurations</a:t>
            </a:r>
          </a:p>
          <a:p>
            <a:r>
              <a:rPr lang="en-IN" sz="2400" dirty="0"/>
              <a:t>Disabled security controls</a:t>
            </a:r>
          </a:p>
          <a:p>
            <a:pPr marL="0" indent="0">
              <a:buNone/>
            </a:pPr>
            <a:r>
              <a:rPr lang="en-IN" sz="2400" dirty="0"/>
              <a:t>As a result, there is limited evaluation of attack </a:t>
            </a:r>
            <a:r>
              <a:rPr lang="en-IN" sz="2400" dirty="0" err="1"/>
              <a:t>behavior</a:t>
            </a:r>
            <a:r>
              <a:rPr lang="en-IN" sz="2400" dirty="0"/>
              <a:t> under enforced security controls.</a:t>
            </a:r>
          </a:p>
        </p:txBody>
      </p:sp>
    </p:spTree>
    <p:extLst>
      <p:ext uri="{BB962C8B-B14F-4D97-AF65-F5344CB8AC3E}">
        <p14:creationId xmlns:p14="http://schemas.microsoft.com/office/powerpoint/2010/main" val="310308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639EA-873A-DCEA-25DB-295E3A9CA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Review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BEF3951-06AC-9FE8-5DB5-E3AC2D8B93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4569124"/>
              </p:ext>
            </p:extLst>
          </p:nvPr>
        </p:nvGraphicFramePr>
        <p:xfrm>
          <a:off x="635000" y="1298470"/>
          <a:ext cx="10515600" cy="53723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21547953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2004568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02256419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93421356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253622006"/>
                    </a:ext>
                  </a:extLst>
                </a:gridCol>
              </a:tblGrid>
              <a:tr h="361394">
                <a:tc>
                  <a:txBody>
                    <a:bodyPr/>
                    <a:lstStyle/>
                    <a:p>
                      <a:r>
                        <a:rPr lang="en-US" sz="1000" dirty="0"/>
                        <a:t>Paper/ Study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Focus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Key Contribution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1" dirty="0"/>
                        <a:t>Limitation/ Research Gap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5200112"/>
                  </a:ext>
                </a:extLst>
              </a:tr>
              <a:tr h="623776">
                <a:tc>
                  <a:txBody>
                    <a:bodyPr/>
                    <a:lstStyle/>
                    <a:p>
                      <a:r>
                        <a:rPr lang="en-US" sz="1000" dirty="0"/>
                        <a:t>ZTA + Federated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Cross-domain IoT 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Simulation with decentralized FL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Privacy-Preserving </a:t>
                      </a:r>
                      <a:r>
                        <a:rPr lang="en-US" sz="1000" dirty="0"/>
                        <a:t>authentication and adaptive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1" dirty="0"/>
                        <a:t>Lacks enterprise environment and real attack validation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7949047"/>
                  </a:ext>
                </a:extLst>
              </a:tr>
              <a:tr h="623776">
                <a:tc>
                  <a:txBody>
                    <a:bodyPr/>
                    <a:lstStyle/>
                    <a:p>
                      <a:r>
                        <a:rPr lang="en-US" sz="1000" dirty="0"/>
                        <a:t>BELA (Model Inversion Protection)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ML security in federated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Encryption-based gradient protection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Prevents data leakage from model updates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1" dirty="0"/>
                        <a:t>Limited to ML domain; no network-level implementation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800605"/>
                  </a:ext>
                </a:extLst>
              </a:tr>
              <a:tr h="445554">
                <a:tc>
                  <a:txBody>
                    <a:bodyPr/>
                    <a:lstStyle/>
                    <a:p>
                      <a:r>
                        <a:rPr lang="en-US" sz="1000" dirty="0"/>
                        <a:t>ZTA Adoption Factors Study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Organizational ZTA adoption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Survey + statistical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Identifies key factors like IAM, segmentation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1" dirty="0"/>
                        <a:t>No experimental or technical validation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6976190"/>
                  </a:ext>
                </a:extLst>
              </a:tr>
              <a:tr h="445554">
                <a:tc>
                  <a:txBody>
                    <a:bodyPr/>
                    <a:lstStyle/>
                    <a:p>
                      <a:r>
                        <a:rPr lang="en-US" sz="1000" dirty="0"/>
                        <a:t>Healthcare Incident 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AI-based incident 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Machine learning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Improved detection accuracy and response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1" dirty="0"/>
                        <a:t>Not focused on Zero Trust architecture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5213253"/>
                  </a:ext>
                </a:extLst>
              </a:tr>
              <a:tr h="361394">
                <a:tc>
                  <a:txBody>
                    <a:bodyPr/>
                    <a:lstStyle/>
                    <a:p>
                      <a:r>
                        <a:rPr lang="en-US" sz="1000" dirty="0"/>
                        <a:t>Zero Trust Survey 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General ZTA 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Literature 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Defines core principles and 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1" dirty="0"/>
                        <a:t>Conceptual; lacks implementation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36440"/>
                  </a:ext>
                </a:extLst>
              </a:tr>
              <a:tr h="361394">
                <a:tc>
                  <a:txBody>
                    <a:bodyPr/>
                    <a:lstStyle/>
                    <a:p>
                      <a:r>
                        <a:rPr lang="en-US" sz="1000" dirty="0"/>
                        <a:t>ZTA in Cloud Networks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Cloud security with ZTA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Analytical study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Highlights micro-segmentation and least privilege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1" dirty="0"/>
                        <a:t>No attack simulation or validation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4792831"/>
                  </a:ext>
                </a:extLst>
              </a:tr>
              <a:tr h="445554">
                <a:tc>
                  <a:txBody>
                    <a:bodyPr/>
                    <a:lstStyle/>
                    <a:p>
                      <a:r>
                        <a:rPr lang="en-US" sz="1000" dirty="0"/>
                        <a:t>Blockchain + ZTA (Finance/Metaverse)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Trust enhancement using blockchain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Conceptual 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Taper-proof IAM and trust mechanisms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1" dirty="0"/>
                        <a:t>High complexity; impractical for real-world labs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3374666"/>
                  </a:ext>
                </a:extLst>
              </a:tr>
              <a:tr h="361394">
                <a:tc>
                  <a:txBody>
                    <a:bodyPr/>
                    <a:lstStyle/>
                    <a:p>
                      <a:r>
                        <a:rPr lang="en-US" sz="1000" dirty="0"/>
                        <a:t>5G Industrial Zero Trust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Industrial network 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Architectural + gap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Continuous authentication and trust evaluation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1" dirty="0"/>
                        <a:t>Implementation challenges not validated experimentally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5825816"/>
                  </a:ext>
                </a:extLst>
              </a:tr>
              <a:tr h="361394">
                <a:tc>
                  <a:txBody>
                    <a:bodyPr/>
                    <a:lstStyle/>
                    <a:p>
                      <a:r>
                        <a:rPr lang="en-US" sz="1000" dirty="0"/>
                        <a:t>Edge Computing DDoS + ZTA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Edge security + behavioral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Simulation with ML-based anomaly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Improved DDoS detection and resilience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1" dirty="0"/>
                        <a:t>Simulation-based; lacks enterprise attack scenarios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1395326"/>
                  </a:ext>
                </a:extLst>
              </a:tr>
              <a:tr h="361394">
                <a:tc>
                  <a:txBody>
                    <a:bodyPr/>
                    <a:lstStyle/>
                    <a:p>
                      <a:r>
                        <a:rPr lang="en-US" sz="1000" dirty="0"/>
                        <a:t>Access Layer ZTA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Network access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Trust evaluation (fuzzy logic)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Dynamic trust-based access decisions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1" dirty="0"/>
                        <a:t>Limited real-world validation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1832873"/>
                  </a:ext>
                </a:extLst>
              </a:tr>
              <a:tr h="445554">
                <a:tc>
                  <a:txBody>
                    <a:bodyPr/>
                    <a:lstStyle/>
                    <a:p>
                      <a:r>
                        <a:rPr lang="en-US" sz="1000" dirty="0"/>
                        <a:t>Enterprise ZTA Security Study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Enterprise security enhancement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Case studies + reports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Reduces insider threats and lateral movements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1" dirty="0"/>
                        <a:t>No controlled penetration testing validation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32020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6967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09088-BA49-1767-38AE-B9BF84E6B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6AA0D-8DCF-FE46-5F34-36B1D5017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B07D9-2104-041F-980D-FFDD7B4868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Identified Research Gap</a:t>
            </a:r>
          </a:p>
          <a:p>
            <a:r>
              <a:rPr lang="en-IN" sz="2400" dirty="0"/>
              <a:t>Limited focus on failed attack </a:t>
            </a:r>
            <a:r>
              <a:rPr lang="en-IN" sz="2400" dirty="0" err="1"/>
              <a:t>behavior</a:t>
            </a:r>
            <a:r>
              <a:rPr lang="en-IN" sz="2400" dirty="0"/>
              <a:t>.</a:t>
            </a:r>
          </a:p>
          <a:p>
            <a:r>
              <a:rPr lang="en-IN" sz="2400" dirty="0"/>
              <a:t>Insufficient evaluation of enforced security policies.</a:t>
            </a:r>
          </a:p>
          <a:p>
            <a:r>
              <a:rPr lang="en-IN" sz="2400" dirty="0"/>
              <a:t>Limited analysis of log-based detection artifacts.</a:t>
            </a:r>
          </a:p>
          <a:p>
            <a:r>
              <a:rPr lang="en-IN" sz="2400" dirty="0"/>
              <a:t>Need for awareness-driven evaluation of defensive mechanisms.</a:t>
            </a:r>
          </a:p>
        </p:txBody>
      </p:sp>
    </p:spTree>
    <p:extLst>
      <p:ext uri="{BB962C8B-B14F-4D97-AF65-F5344CB8AC3E}">
        <p14:creationId xmlns:p14="http://schemas.microsoft.com/office/powerpoint/2010/main" val="31109265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A1533-4BE1-DF5E-D485-BD167C2BD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24CC5-00AF-876C-F7CA-146754384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Modern Active Directory environments increasingly adopt Zero Trust-aligned hardening and segmentation.</a:t>
            </a:r>
          </a:p>
          <a:p>
            <a:r>
              <a:rPr lang="en-IN" sz="2400" dirty="0"/>
              <a:t>However, most academic demonstrations do not evaluate how identity-based attacks behave under enforced security controls.</a:t>
            </a:r>
          </a:p>
        </p:txBody>
      </p:sp>
    </p:spTree>
    <p:extLst>
      <p:ext uri="{BB962C8B-B14F-4D97-AF65-F5344CB8AC3E}">
        <p14:creationId xmlns:p14="http://schemas.microsoft.com/office/powerpoint/2010/main" val="2374707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6CBD-FC59-BE59-2070-B5315E2C8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E25AA-71BA-D0F6-3993-32491BD06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Model an SMB-based identity attack chain from discovery to file access on Windows 11.</a:t>
            </a:r>
          </a:p>
          <a:p>
            <a:r>
              <a:rPr lang="en-IN" dirty="0"/>
              <a:t>Assess NTLMv2/SAM exposure and potential for escalation and lateral movement. </a:t>
            </a:r>
          </a:p>
          <a:p>
            <a:r>
              <a:rPr lang="en-IN" dirty="0"/>
              <a:t>Deploy and harden a Zero Trust Active Directory environment.</a:t>
            </a:r>
          </a:p>
          <a:p>
            <a:r>
              <a:rPr lang="en-IN" dirty="0"/>
              <a:t>Test identity-based attacks using low-privilege credentials against controls.</a:t>
            </a:r>
          </a:p>
          <a:p>
            <a:r>
              <a:rPr lang="en-IN" dirty="0"/>
              <a:t>Evaluate feasibility of Golden and Silver Ticket attacks</a:t>
            </a:r>
          </a:p>
          <a:p>
            <a:r>
              <a:rPr lang="en-IN" dirty="0"/>
              <a:t>Compare attack feasibility between weak and hardened Zero </a:t>
            </a:r>
            <a:r>
              <a:rPr lang="en-IN"/>
              <a:t>Trust environments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470978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2C796-D371-7EE6-056A-4956DC258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Methodology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14B012-9F92-6D1E-D232-6C41615CB437}"/>
              </a:ext>
            </a:extLst>
          </p:cNvPr>
          <p:cNvSpPr txBox="1"/>
          <p:nvPr/>
        </p:nvSpPr>
        <p:spPr>
          <a:xfrm>
            <a:off x="838200" y="1690688"/>
            <a:ext cx="10261600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/>
              <a:t>Lab Architecture: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Windows Server Domain Controller (AD DS)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Windows 11 Domain Client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External attacker system (Kali Linux)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Controlled same-subnet lab environment.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DEF1923F-5975-D2F8-455D-57C7454C19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0522" y="3691864"/>
            <a:ext cx="5983152" cy="3166135"/>
          </a:xfrm>
        </p:spPr>
      </p:pic>
    </p:spTree>
    <p:extLst>
      <p:ext uri="{BB962C8B-B14F-4D97-AF65-F5344CB8AC3E}">
        <p14:creationId xmlns:p14="http://schemas.microsoft.com/office/powerpoint/2010/main" val="10777248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B40A7-28EB-C525-3417-8857A8512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1274-48E2-36D4-8BE2-580012456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Methodology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F5C9FF-2106-6BA2-3745-98FD6240D82A}"/>
              </a:ext>
            </a:extLst>
          </p:cNvPr>
          <p:cNvSpPr txBox="1"/>
          <p:nvPr/>
        </p:nvSpPr>
        <p:spPr>
          <a:xfrm>
            <a:off x="838200" y="1859340"/>
            <a:ext cx="10261600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Two-Phase Approach:</a:t>
            </a:r>
          </a:p>
          <a:p>
            <a:r>
              <a:rPr lang="en-US" sz="2400" dirty="0"/>
              <a:t>The experimental setup follows a two-phase approach to evaluate attack behavior under different security conditions.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Phase 1: Attack simulation in standalone Windows 11 environment.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Phase 2: Attack simulation in hardened Active Directory environment.</a:t>
            </a:r>
          </a:p>
          <a:p>
            <a:endParaRPr lang="en-US" sz="2400" dirty="0"/>
          </a:p>
          <a:p>
            <a:r>
              <a:rPr lang="en-US" sz="2800" dirty="0"/>
              <a:t>Identity &amp; Policy Configuration: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Domain setup and controller deployment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Creation of standard domain user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Client joined to domain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Low-privilege domain credentials used for attack simulation</a:t>
            </a:r>
          </a:p>
        </p:txBody>
      </p:sp>
    </p:spTree>
    <p:extLst>
      <p:ext uri="{BB962C8B-B14F-4D97-AF65-F5344CB8AC3E}">
        <p14:creationId xmlns:p14="http://schemas.microsoft.com/office/powerpoint/2010/main" val="1947846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7AF3B-3E4A-3645-AFD5-C4594A82F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E9D20-8FC8-2BCF-83C3-7CF26A5CF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Methodology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343ED1-2C8F-BE3B-B573-902B32AA5546}"/>
              </a:ext>
            </a:extLst>
          </p:cNvPr>
          <p:cNvSpPr txBox="1"/>
          <p:nvPr/>
        </p:nvSpPr>
        <p:spPr>
          <a:xfrm>
            <a:off x="838200" y="1859340"/>
            <a:ext cx="10261600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Hardening &amp; Policy Enforcement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Group Policy Object (GPO)-based security configuration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LDAP signing enforcement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Kerberos integrity enforcement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NTLM usage restriction policies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Windows Firewall enabled and configured</a:t>
            </a:r>
          </a:p>
          <a:p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7574630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1B500-2D85-48D4-1FE2-DAC9AAC08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37203-B538-340F-D3F6-B45F36B7A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Methodology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0D7636-E675-0A29-93DC-C8E574D16B84}"/>
              </a:ext>
            </a:extLst>
          </p:cNvPr>
          <p:cNvSpPr txBox="1"/>
          <p:nvPr/>
        </p:nvSpPr>
        <p:spPr>
          <a:xfrm>
            <a:off x="838200" y="1859340"/>
            <a:ext cx="10261600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Attack Simulation Approach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Network reconnaissance and service enumeration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LLMNR/NBT-NS poisoning for credential capture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NTLMv2 hash capture and password cracking validation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LDAP enumeration testing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Authentication interaction testing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Security controls remained enabled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Log monitoring during attack execution</a:t>
            </a:r>
          </a:p>
          <a:p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13772937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BD920-840E-CDC6-FE7A-45E012615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Phase 1 – Reconnaissance and Service Discovery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0F32DA04-C6CF-C029-0B6A-4F7ED01151B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000" y="2620458"/>
            <a:ext cx="6604000" cy="2761672"/>
          </a:xfr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24D95CBF-B4A8-4706-EE63-1841CAF61C0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0" y="2620458"/>
            <a:ext cx="5181600" cy="2761672"/>
          </a:xfrm>
        </p:spPr>
      </p:pic>
    </p:spTree>
    <p:extLst>
      <p:ext uri="{BB962C8B-B14F-4D97-AF65-F5344CB8AC3E}">
        <p14:creationId xmlns:p14="http://schemas.microsoft.com/office/powerpoint/2010/main" val="18246802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D96C3-05E6-E1F7-50BD-80C49A421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DCA72-2E8D-CCCE-3C42-0BEBE789F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Phase 1 - Credential Compromise via LLMNR Poisoning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B7B1B4B-8F64-EF6C-88F5-2F1701D6693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3668" y="4739458"/>
            <a:ext cx="9884664" cy="2118542"/>
          </a:xfr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F373758D-3A93-1D1A-44D3-0A7DC551BBC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3668" y="1805276"/>
            <a:ext cx="9884664" cy="2819593"/>
          </a:xfrm>
        </p:spPr>
      </p:pic>
    </p:spTree>
    <p:extLst>
      <p:ext uri="{BB962C8B-B14F-4D97-AF65-F5344CB8AC3E}">
        <p14:creationId xmlns:p14="http://schemas.microsoft.com/office/powerpoint/2010/main" val="26890638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110AE-FF2F-2DC3-B203-68BDDB6BA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1 - Unauthorized Access via SMB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E91B85A-22F2-E57D-0B8E-20B5A939C9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350" y="2020094"/>
            <a:ext cx="9893300" cy="3962400"/>
          </a:xfrm>
        </p:spPr>
      </p:pic>
    </p:spTree>
    <p:extLst>
      <p:ext uri="{BB962C8B-B14F-4D97-AF65-F5344CB8AC3E}">
        <p14:creationId xmlns:p14="http://schemas.microsoft.com/office/powerpoint/2010/main" val="24755252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41A5-46B7-E09A-BE3B-410D6A77F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Phase 2 – Attack Restriction under Zero Trust Controls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AABD602-4FB6-2305-CE35-B3B2A37198F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773" y="2406347"/>
            <a:ext cx="11430645" cy="1153348"/>
          </a:xfr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69FDDD7-EAC8-4855-6F25-80D823E6B42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773" y="3848635"/>
            <a:ext cx="11574453" cy="1528989"/>
          </a:xfrm>
        </p:spPr>
      </p:pic>
    </p:spTree>
    <p:extLst>
      <p:ext uri="{BB962C8B-B14F-4D97-AF65-F5344CB8AC3E}">
        <p14:creationId xmlns:p14="http://schemas.microsoft.com/office/powerpoint/2010/main" val="42912947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C9FAE-C685-2942-D3D4-216A6AC18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B33A6-B209-82E0-3AC4-ED0F2117C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4D796B4-0F2B-7EFB-CA57-18697F8F49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6041076"/>
              </p:ext>
            </p:extLst>
          </p:nvPr>
        </p:nvGraphicFramePr>
        <p:xfrm>
          <a:off x="838200" y="1580606"/>
          <a:ext cx="10515600" cy="37327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29862537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59086397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603954311"/>
                    </a:ext>
                  </a:extLst>
                </a:gridCol>
              </a:tblGrid>
              <a:tr h="604157">
                <a:tc>
                  <a:txBody>
                    <a:bodyPr/>
                    <a:lstStyle/>
                    <a:p>
                      <a:r>
                        <a:rPr lang="en-US" dirty="0"/>
                        <a:t>Attempt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Outcome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6382765"/>
                  </a:ext>
                </a:extLst>
              </a:tr>
              <a:tr h="604157">
                <a:tc>
                  <a:txBody>
                    <a:bodyPr/>
                    <a:lstStyle/>
                    <a:p>
                      <a:r>
                        <a:rPr lang="en-US" dirty="0"/>
                        <a:t>LLMNR / Credential Capture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Successful (Phase 1) / Blocked (Phase 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Disabled / no fallback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460063"/>
                  </a:ext>
                </a:extLst>
              </a:tr>
              <a:tr h="604157">
                <a:tc>
                  <a:txBody>
                    <a:bodyPr/>
                    <a:lstStyle/>
                    <a:p>
                      <a:r>
                        <a:rPr lang="en-US" dirty="0"/>
                        <a:t>LDAP Enumeration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Blocked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LDAP signing enforced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5001718"/>
                  </a:ext>
                </a:extLst>
              </a:tr>
              <a:tr h="604157">
                <a:tc>
                  <a:txBody>
                    <a:bodyPr/>
                    <a:lstStyle/>
                    <a:p>
                      <a:r>
                        <a:rPr lang="en-US" dirty="0"/>
                        <a:t>Kerberos Interaction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Restricted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Integrity Enforcement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6642060"/>
                  </a:ext>
                </a:extLst>
              </a:tr>
              <a:tr h="604157">
                <a:tc>
                  <a:txBody>
                    <a:bodyPr/>
                    <a:lstStyle/>
                    <a:p>
                      <a:r>
                        <a:rPr lang="en-US" dirty="0"/>
                        <a:t>Lateral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Successful (Phase 1) / Restricted (Phase 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Firewall &amp; segmentation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0644457"/>
                  </a:ext>
                </a:extLst>
              </a:tr>
              <a:tr h="604157">
                <a:tc>
                  <a:txBody>
                    <a:bodyPr/>
                    <a:lstStyle/>
                    <a:p>
                      <a:r>
                        <a:rPr lang="en-US" dirty="0"/>
                        <a:t>Privilege Escalation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achieved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Policy enforcement (Least Privilege)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573194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F595345-5E54-7815-2620-77E7DDAB2B10}"/>
              </a:ext>
            </a:extLst>
          </p:cNvPr>
          <p:cNvSpPr txBox="1"/>
          <p:nvPr/>
        </p:nvSpPr>
        <p:spPr>
          <a:xfrm>
            <a:off x="838200" y="5486400"/>
            <a:ext cx="10515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Phase 1 demonstrated successful credential compromise and unauthorized access without exploiting software vulnerabilities.</a:t>
            </a:r>
          </a:p>
          <a:p>
            <a:r>
              <a:rPr lang="en-US" dirty="0"/>
              <a:t>Phase 2 significantly restricted attack progression under enforced Zero Trust controls.</a:t>
            </a:r>
          </a:p>
        </p:txBody>
      </p:sp>
    </p:spTree>
    <p:extLst>
      <p:ext uri="{BB962C8B-B14F-4D97-AF65-F5344CB8AC3E}">
        <p14:creationId xmlns:p14="http://schemas.microsoft.com/office/powerpoint/2010/main" val="36456711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19452-3000-DF4A-F633-2C06CB0E4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Outcome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084D1-BF8A-599C-4DEE-5FD15C78E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Hardened Active Directory lab successfully implemented</a:t>
            </a:r>
          </a:p>
          <a:p>
            <a:r>
              <a:rPr lang="en-US" dirty="0"/>
              <a:t>Comparative evaluation shows identity-based attacks succeed in weak environments but are restricted under Zero Trust controls</a:t>
            </a:r>
          </a:p>
          <a:p>
            <a:r>
              <a:rPr lang="en-US" dirty="0"/>
              <a:t>Zero Trust-aligned controls validated</a:t>
            </a:r>
          </a:p>
          <a:p>
            <a:r>
              <a:rPr lang="en-US" dirty="0"/>
              <a:t>Defensive enforcement and monitoring demonstrated.</a:t>
            </a:r>
          </a:p>
        </p:txBody>
      </p:sp>
    </p:spTree>
    <p:extLst>
      <p:ext uri="{BB962C8B-B14F-4D97-AF65-F5344CB8AC3E}">
        <p14:creationId xmlns:p14="http://schemas.microsoft.com/office/powerpoint/2010/main" val="21549569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C5325-4A51-AE05-7BE6-440D74D0B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88C38-4C0A-7C78-2FF6-39EB62252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NIST SP 800-207 Zero Trust Architecture Documentation</a:t>
            </a:r>
          </a:p>
          <a:p>
            <a:r>
              <a:rPr lang="en-IN" dirty="0"/>
              <a:t>Microsoft Active Directory Security Documentation</a:t>
            </a:r>
          </a:p>
          <a:p>
            <a:r>
              <a:rPr lang="en-IN" dirty="0"/>
              <a:t>Research on Identity-Based Attacks in Enterprise Environments</a:t>
            </a:r>
          </a:p>
          <a:p>
            <a:r>
              <a:rPr lang="en-IN" dirty="0"/>
              <a:t>Academic studies on AD Hardening and Detection</a:t>
            </a:r>
          </a:p>
        </p:txBody>
      </p:sp>
    </p:spTree>
    <p:extLst>
      <p:ext uri="{BB962C8B-B14F-4D97-AF65-F5344CB8AC3E}">
        <p14:creationId xmlns:p14="http://schemas.microsoft.com/office/powerpoint/2010/main" val="27249175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4A3BC-6699-55DF-65A6-FEF6DF162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4EC12-AFBC-DD9C-EE39-890BD97C4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39C5E-64FF-627B-F385-E01D284AAD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1000" dirty="0">
                <a:solidFill>
                  <a:srgbClr val="000000"/>
                </a:solidFill>
                <a:effectLst/>
                <a:latin typeface="Helvetica" pitchFamily="2" charset="0"/>
              </a:rPr>
              <a:t>Y. Liu, “Construction of network access layer security protection system based on zero trust architecture,” Procedia Computer Science, vol. 243,pp. 1013–1022, 2024.</a:t>
            </a:r>
          </a:p>
          <a:p>
            <a:r>
              <a:rPr lang="en-IN" sz="1000" dirty="0">
                <a:solidFill>
                  <a:srgbClr val="000000"/>
                </a:solidFill>
                <a:effectLst/>
                <a:latin typeface="Helvetica" pitchFamily="2" charset="0"/>
              </a:rPr>
              <a:t>R. Patel, K. M¨ </a:t>
            </a:r>
            <a:r>
              <a:rPr lang="en-IN" sz="1000" dirty="0" err="1">
                <a:solidFill>
                  <a:srgbClr val="000000"/>
                </a:solidFill>
                <a:effectLst/>
                <a:latin typeface="Helvetica" pitchFamily="2" charset="0"/>
              </a:rPr>
              <a:t>uller</a:t>
            </a:r>
            <a:r>
              <a:rPr lang="en-IN" sz="1000" dirty="0">
                <a:solidFill>
                  <a:srgbClr val="000000"/>
                </a:solidFill>
                <a:effectLst/>
                <a:latin typeface="Helvetica" pitchFamily="2" charset="0"/>
              </a:rPr>
              <a:t>, G. Kvirkvelia, J. Smith, and E. Wilson, “Zero trust security architecture raises the future paradigm in information </a:t>
            </a:r>
            <a:r>
              <a:rPr lang="en-IN" sz="1000" dirty="0" err="1">
                <a:solidFill>
                  <a:srgbClr val="000000"/>
                </a:solidFill>
                <a:effectLst/>
                <a:latin typeface="Helvetica" pitchFamily="2" charset="0"/>
              </a:rPr>
              <a:t>systems,”Informatica</a:t>
            </a:r>
            <a:r>
              <a:rPr lang="en-IN" sz="1000" dirty="0">
                <a:solidFill>
                  <a:srgbClr val="000000"/>
                </a:solidFill>
                <a:effectLst/>
                <a:latin typeface="Helvetica" pitchFamily="2" charset="0"/>
              </a:rPr>
              <a:t> and Digital Insight Journal, vol. 1, no. 1, pp. 24–34, 2024.</a:t>
            </a:r>
          </a:p>
          <a:p>
            <a:r>
              <a:rPr lang="en-IN" sz="1000" dirty="0">
                <a:solidFill>
                  <a:srgbClr val="000000"/>
                </a:solidFill>
                <a:effectLst/>
                <a:latin typeface="Helvetica" pitchFamily="2" charset="0"/>
              </a:rPr>
              <a:t>M. Hasan, “Enhancing enterprise security with zero trust architecture,” </a:t>
            </a:r>
            <a:r>
              <a:rPr lang="en-IN" sz="1000" dirty="0" err="1">
                <a:solidFill>
                  <a:srgbClr val="000000"/>
                </a:solidFill>
                <a:effectLst/>
                <a:latin typeface="Helvetica" pitchFamily="2" charset="0"/>
              </a:rPr>
              <a:t>arXiv</a:t>
            </a:r>
            <a:r>
              <a:rPr lang="en-IN" sz="1000" dirty="0">
                <a:solidFill>
                  <a:srgbClr val="000000"/>
                </a:solidFill>
                <a:effectLst/>
                <a:latin typeface="Helvetica" pitchFamily="2" charset="0"/>
              </a:rPr>
              <a:t> preprint arXiv:2410.18291, 2024.</a:t>
            </a:r>
          </a:p>
          <a:p>
            <a:r>
              <a:rPr lang="en-IN" sz="1000" dirty="0">
                <a:solidFill>
                  <a:srgbClr val="000000"/>
                </a:solidFill>
                <a:effectLst/>
                <a:latin typeface="Helvetica" pitchFamily="2" charset="0"/>
              </a:rPr>
              <a:t>N. Karunarathne and T. Samarasinghe, “</a:t>
            </a:r>
            <a:r>
              <a:rPr lang="en-IN" sz="1000" dirty="0" err="1">
                <a:solidFill>
                  <a:srgbClr val="000000"/>
                </a:solidFill>
                <a:effectLst/>
                <a:latin typeface="Helvetica" pitchFamily="2" charset="0"/>
              </a:rPr>
              <a:t>Analyzing</a:t>
            </a:r>
            <a:r>
              <a:rPr lang="en-IN" sz="1000" dirty="0">
                <a:solidFill>
                  <a:srgbClr val="000000"/>
                </a:solidFill>
                <a:effectLst/>
                <a:latin typeface="Helvetica" pitchFamily="2" charset="0"/>
              </a:rPr>
              <a:t> the implementation factors of zero-trust architecture as perceived by information security professionals in western province, </a:t>
            </a:r>
            <a:r>
              <a:rPr lang="en-IN" sz="1000" dirty="0" err="1">
                <a:solidFill>
                  <a:srgbClr val="000000"/>
                </a:solidFill>
                <a:effectLst/>
                <a:latin typeface="Helvetica" pitchFamily="2" charset="0"/>
              </a:rPr>
              <a:t>sri</a:t>
            </a:r>
            <a:r>
              <a:rPr lang="en-IN" sz="1000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n-IN" sz="1000" dirty="0" err="1">
                <a:solidFill>
                  <a:srgbClr val="000000"/>
                </a:solidFill>
                <a:effectLst/>
                <a:latin typeface="Helvetica" pitchFamily="2" charset="0"/>
              </a:rPr>
              <a:t>lanka</a:t>
            </a:r>
            <a:r>
              <a:rPr lang="en-IN" sz="1000" dirty="0">
                <a:solidFill>
                  <a:srgbClr val="000000"/>
                </a:solidFill>
                <a:effectLst/>
                <a:latin typeface="Helvetica" pitchFamily="2" charset="0"/>
              </a:rPr>
              <a:t>.</a:t>
            </a:r>
          </a:p>
          <a:p>
            <a:r>
              <a:rPr lang="en-IN" sz="1000" dirty="0">
                <a:solidFill>
                  <a:srgbClr val="000000"/>
                </a:solidFill>
                <a:effectLst/>
                <a:latin typeface="Helvetica" pitchFamily="2" charset="0"/>
              </a:rPr>
              <a:t>J. Barach, “Towards zero trust security in </a:t>
            </a:r>
            <a:r>
              <a:rPr lang="en-IN" sz="1000" dirty="0" err="1">
                <a:solidFill>
                  <a:srgbClr val="000000"/>
                </a:solidFill>
                <a:effectLst/>
                <a:latin typeface="Helvetica" pitchFamily="2" charset="0"/>
              </a:rPr>
              <a:t>sdn</a:t>
            </a:r>
            <a:r>
              <a:rPr lang="en-IN" sz="1000" dirty="0">
                <a:solidFill>
                  <a:srgbClr val="000000"/>
                </a:solidFill>
                <a:effectLst/>
                <a:latin typeface="Helvetica" pitchFamily="2" charset="0"/>
              </a:rPr>
              <a:t>: A multi-layered </a:t>
            </a:r>
            <a:r>
              <a:rPr lang="en-IN" sz="1000" dirty="0" err="1">
                <a:solidFill>
                  <a:srgbClr val="000000"/>
                </a:solidFill>
                <a:effectLst/>
                <a:latin typeface="Helvetica" pitchFamily="2" charset="0"/>
              </a:rPr>
              <a:t>defense</a:t>
            </a:r>
            <a:r>
              <a:rPr lang="en-IN" sz="10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IN" sz="1000" dirty="0">
                <a:solidFill>
                  <a:srgbClr val="000000"/>
                </a:solidFill>
                <a:effectLst/>
                <a:latin typeface="Helvetica" pitchFamily="2" charset="0"/>
              </a:rPr>
              <a:t>strategy,” in Proceedings of the 26th International Conference on Dis- tributed Computing and Networking, 2025, pp. 331–339.</a:t>
            </a:r>
          </a:p>
          <a:p>
            <a:r>
              <a:rPr lang="en-IN" sz="1000" dirty="0">
                <a:solidFill>
                  <a:srgbClr val="000000"/>
                </a:solidFill>
                <a:effectLst/>
                <a:latin typeface="Helvetica" pitchFamily="2" charset="0"/>
              </a:rPr>
              <a:t>Y. Kim, S.-G. Sohn, K. T. Kim, H. S. Jeon, S.-M. Lee, Y. Lee, and J. Kim, “Exploring effective zero trust architecture for </a:t>
            </a:r>
            <a:r>
              <a:rPr lang="en-IN" sz="1000" dirty="0" err="1">
                <a:solidFill>
                  <a:srgbClr val="000000"/>
                </a:solidFill>
                <a:effectLst/>
                <a:latin typeface="Helvetica" pitchFamily="2" charset="0"/>
              </a:rPr>
              <a:t>defense</a:t>
            </a:r>
            <a:r>
              <a:rPr lang="en-IN" sz="10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IN" sz="1000" dirty="0">
                <a:solidFill>
                  <a:srgbClr val="000000"/>
                </a:solidFill>
                <a:effectLst/>
                <a:latin typeface="Helvetica" pitchFamily="2" charset="0"/>
              </a:rPr>
              <a:t>cybersecurity: A study.” KSII Transactions on Internet &amp; Information Systems, vol. 18, no. 9, 2024.</a:t>
            </a:r>
          </a:p>
          <a:p>
            <a:r>
              <a:rPr lang="en-IN" sz="1000" dirty="0">
                <a:solidFill>
                  <a:srgbClr val="000000"/>
                </a:solidFill>
                <a:effectLst/>
                <a:latin typeface="Helvetica" pitchFamily="2" charset="0"/>
              </a:rPr>
              <a:t>S. Ahmadi, “Zero trust architecture in cloud networks: Application, challenges and future opportunities,” Ahmadi, S.(2024). Zero Trust Architecture in Cloud Networks: Application, Challenges and Future Opportunities. Journal of Engineering Research and Reports, vol. 26,no. 2, pp. 215–228, 2024.</a:t>
            </a:r>
          </a:p>
          <a:p>
            <a:r>
              <a:rPr lang="en-IN" sz="800" dirty="0">
                <a:solidFill>
                  <a:srgbClr val="000000"/>
                </a:solidFill>
                <a:effectLst/>
                <a:latin typeface="Helvetica" pitchFamily="2" charset="0"/>
              </a:rPr>
              <a:t>V. Veeramachaneni, “Integrating zero trust principles into </a:t>
            </a:r>
            <a:r>
              <a:rPr lang="en-IN" sz="800" dirty="0" err="1">
                <a:solidFill>
                  <a:srgbClr val="000000"/>
                </a:solidFill>
                <a:effectLst/>
                <a:latin typeface="Helvetica" pitchFamily="2" charset="0"/>
              </a:rPr>
              <a:t>iam</a:t>
            </a:r>
            <a:r>
              <a:rPr lang="en-IN" sz="800" dirty="0">
                <a:solidFill>
                  <a:srgbClr val="000000"/>
                </a:solidFill>
                <a:effectLst/>
                <a:latin typeface="Helvetica" pitchFamily="2" charset="0"/>
              </a:rPr>
              <a:t> for enhanced cloud security,” Recent Trends in Cloud Computing and Web Engineering, vol. 7, no. 1, pp. 78–92, 2025.</a:t>
            </a:r>
          </a:p>
          <a:p>
            <a:r>
              <a:rPr lang="en-IN" sz="800" dirty="0">
                <a:solidFill>
                  <a:srgbClr val="000000"/>
                </a:solidFill>
                <a:effectLst/>
                <a:latin typeface="Helvetica" pitchFamily="2" charset="0"/>
              </a:rPr>
              <a:t>J. M. B. Murcia, E. C´ </a:t>
            </a:r>
            <a:r>
              <a:rPr lang="en-IN" sz="800" dirty="0" err="1">
                <a:solidFill>
                  <a:srgbClr val="000000"/>
                </a:solidFill>
                <a:effectLst/>
                <a:latin typeface="Helvetica" pitchFamily="2" charset="0"/>
              </a:rPr>
              <a:t>anovas</a:t>
            </a:r>
            <a:r>
              <a:rPr lang="en-IN" sz="800" dirty="0">
                <a:solidFill>
                  <a:srgbClr val="000000"/>
                </a:solidFill>
                <a:effectLst/>
                <a:latin typeface="Helvetica" pitchFamily="2" charset="0"/>
              </a:rPr>
              <a:t>, J. Garc´ </a:t>
            </a:r>
            <a:r>
              <a:rPr lang="en-IN" sz="800" dirty="0" err="1">
                <a:solidFill>
                  <a:srgbClr val="000000"/>
                </a:solidFill>
                <a:effectLst/>
                <a:latin typeface="Helvetica" pitchFamily="2" charset="0"/>
              </a:rPr>
              <a:t>ıa</a:t>
            </a:r>
            <a:r>
              <a:rPr lang="en-IN" sz="800" dirty="0">
                <a:solidFill>
                  <a:srgbClr val="000000"/>
                </a:solidFill>
                <a:effectLst/>
                <a:latin typeface="Helvetica" pitchFamily="2" charset="0"/>
              </a:rPr>
              <a:t>-Rodr´ </a:t>
            </a:r>
            <a:r>
              <a:rPr lang="en-IN" sz="800" dirty="0" err="1">
                <a:solidFill>
                  <a:srgbClr val="000000"/>
                </a:solidFill>
                <a:effectLst/>
                <a:latin typeface="Helvetica" pitchFamily="2" charset="0"/>
              </a:rPr>
              <a:t>ıguez</a:t>
            </a:r>
            <a:r>
              <a:rPr lang="en-IN" sz="800" dirty="0">
                <a:solidFill>
                  <a:srgbClr val="000000"/>
                </a:solidFill>
                <a:effectLst/>
                <a:latin typeface="Helvetica" pitchFamily="2" charset="0"/>
              </a:rPr>
              <a:t>, A. M. </a:t>
            </a:r>
            <a:r>
              <a:rPr lang="en-IN" sz="800" dirty="0" err="1">
                <a:solidFill>
                  <a:srgbClr val="000000"/>
                </a:solidFill>
                <a:effectLst/>
                <a:latin typeface="Helvetica" pitchFamily="2" charset="0"/>
              </a:rPr>
              <a:t>Zarca</a:t>
            </a:r>
            <a:r>
              <a:rPr lang="en-IN" sz="800" dirty="0">
                <a:solidFill>
                  <a:srgbClr val="000000"/>
                </a:solidFill>
                <a:effectLst/>
                <a:latin typeface="Helvetica" pitchFamily="2" charset="0"/>
              </a:rPr>
              <a:t>, and A. </a:t>
            </a:r>
            <a:r>
              <a:rPr lang="en-IN" sz="800" dirty="0" err="1">
                <a:solidFill>
                  <a:srgbClr val="000000"/>
                </a:solidFill>
                <a:effectLst/>
                <a:latin typeface="Helvetica" pitchFamily="2" charset="0"/>
              </a:rPr>
              <a:t>Skarmeta</a:t>
            </a:r>
            <a:r>
              <a:rPr lang="en-IN" sz="800" dirty="0">
                <a:solidFill>
                  <a:srgbClr val="000000"/>
                </a:solidFill>
                <a:effectLst/>
                <a:latin typeface="Helvetica" pitchFamily="2" charset="0"/>
              </a:rPr>
              <a:t>, “Decentralised identity management solution for zero-trust multi-domain computing continuum frameworks,” Future Generation Computer Systems, vol. 162, p. 107479, 2025.</a:t>
            </a:r>
          </a:p>
          <a:p>
            <a:r>
              <a:rPr lang="en-IN" sz="800" dirty="0">
                <a:solidFill>
                  <a:srgbClr val="000000"/>
                </a:solidFill>
                <a:effectLst/>
                <a:latin typeface="Helvetica" pitchFamily="2" charset="0"/>
              </a:rPr>
              <a:t>T. Wu, G. Li, J. Wang, B. Xiao, and Y. Song, “</a:t>
            </a:r>
            <a:r>
              <a:rPr lang="en-IN" sz="800" dirty="0" err="1">
                <a:solidFill>
                  <a:srgbClr val="000000"/>
                </a:solidFill>
                <a:effectLst/>
                <a:latin typeface="Helvetica" pitchFamily="2" charset="0"/>
              </a:rPr>
              <a:t>Ppca</a:t>
            </a:r>
            <a:r>
              <a:rPr lang="en-IN" sz="800" dirty="0">
                <a:solidFill>
                  <a:srgbClr val="000000"/>
                </a:solidFill>
                <a:effectLst/>
                <a:latin typeface="Helvetica" pitchFamily="2" charset="0"/>
              </a:rPr>
              <a:t>: Privacy-preserving continuous authentication scheme with consistency proof for zero-trust architecture networks,” IEEE Internet of Things Journal, vol. 12, no. 11, pp. 17 596–17 609, 2025.</a:t>
            </a:r>
          </a:p>
          <a:p>
            <a:r>
              <a:rPr lang="en-IN" sz="800" dirty="0">
                <a:solidFill>
                  <a:srgbClr val="000000"/>
                </a:solidFill>
                <a:effectLst/>
                <a:latin typeface="Helvetica" pitchFamily="2" charset="0"/>
              </a:rPr>
              <a:t>J. J. D. Rivera, A. Muhammad, and W.-C. Song, “Securing digital identity in the zero trust architecture: A blockchain approach to privacy- focused multi-factor authentication,” IEEE Open Journal of the Communications Society, vol. 5, pp. 2792–2814, 2024.</a:t>
            </a:r>
            <a:endParaRPr lang="en-IN" sz="1000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r>
              <a:rPr lang="en-IN" sz="1000" dirty="0">
                <a:solidFill>
                  <a:srgbClr val="000000"/>
                </a:solidFill>
                <a:effectLst/>
                <a:latin typeface="Helvetica" pitchFamily="2" charset="0"/>
              </a:rPr>
              <a:t>C. Daah, A. Qureshi, I. Awan, and S. Konur, “Simulation-based evaluation of advanced threat detection and response in financial industry networks using zero trust and blockchain technology,” Simulation Modelling Practice and Theory, vol. 138, p. 103027, 2025.</a:t>
            </a:r>
          </a:p>
          <a:p>
            <a:endParaRPr lang="en-IN" sz="1200" dirty="0">
              <a:solidFill>
                <a:srgbClr val="000000"/>
              </a:solidFill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59298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D9A90-05AE-81C5-A2FA-935C83709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B432C-2E94-0AB9-664D-9861E0A59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3902AE-D4C8-2A7C-0EEE-9468D45FF8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sz="1000" dirty="0">
                <a:solidFill>
                  <a:srgbClr val="000000"/>
                </a:solidFill>
                <a:effectLst/>
                <a:latin typeface="Helvetica" pitchFamily="2" charset="0"/>
              </a:rPr>
              <a:t>F. U. Ayomide, “Enhancing </a:t>
            </a:r>
            <a:r>
              <a:rPr lang="en-IN" sz="1000" dirty="0" err="1">
                <a:solidFill>
                  <a:srgbClr val="000000"/>
                </a:solidFill>
                <a:effectLst/>
                <a:latin typeface="Helvetica" pitchFamily="2" charset="0"/>
              </a:rPr>
              <a:t>behavioral</a:t>
            </a:r>
            <a:r>
              <a:rPr lang="en-IN" sz="1000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n-IN" sz="1000" dirty="0" err="1">
                <a:solidFill>
                  <a:srgbClr val="000000"/>
                </a:solidFill>
                <a:effectLst/>
                <a:latin typeface="Helvetica" pitchFamily="2" charset="0"/>
              </a:rPr>
              <a:t>ddos</a:t>
            </a:r>
            <a:r>
              <a:rPr lang="en-IN" sz="1000" dirty="0">
                <a:solidFill>
                  <a:srgbClr val="000000"/>
                </a:solidFill>
                <a:effectLst/>
                <a:latin typeface="Helvetica" pitchFamily="2" charset="0"/>
              </a:rPr>
              <a:t> detection through zero trust security models in edge computing,” </a:t>
            </a:r>
            <a:r>
              <a:rPr lang="en-IN" sz="1000" dirty="0" err="1">
                <a:solidFill>
                  <a:srgbClr val="000000"/>
                </a:solidFill>
                <a:effectLst/>
                <a:latin typeface="Helvetica" pitchFamily="2" charset="0"/>
              </a:rPr>
              <a:t>Authorea</a:t>
            </a:r>
            <a:r>
              <a:rPr lang="en-IN" sz="1000" dirty="0">
                <a:solidFill>
                  <a:srgbClr val="000000"/>
                </a:solidFill>
                <a:effectLst/>
                <a:latin typeface="Helvetica" pitchFamily="2" charset="0"/>
              </a:rPr>
              <a:t> Preprints, 2025.</a:t>
            </a:r>
          </a:p>
          <a:p>
            <a:r>
              <a:rPr lang="en-IN" sz="1000" dirty="0">
                <a:solidFill>
                  <a:srgbClr val="000000"/>
                </a:solidFill>
                <a:effectLst/>
                <a:latin typeface="Helvetica" pitchFamily="2" charset="0"/>
              </a:rPr>
              <a:t>A. A. Habib, A. Imtiaz, D. Tripura, M. O. Faruk, M. A. Hossain, I. Ara, S. Sarker, and A. Z. Abadin, “Distributed denial-of-service attack detection short review: issues, challenges, </a:t>
            </a:r>
            <a:r>
              <a:rPr lang="en-IN" sz="1000" dirty="0" err="1">
                <a:solidFill>
                  <a:srgbClr val="000000"/>
                </a:solidFill>
                <a:effectLst/>
                <a:latin typeface="Helvetica" pitchFamily="2" charset="0"/>
              </a:rPr>
              <a:t>andrecommendations</a:t>
            </a:r>
            <a:r>
              <a:rPr lang="en-IN" sz="1000" dirty="0">
                <a:solidFill>
                  <a:srgbClr val="000000"/>
                </a:solidFill>
                <a:effectLst/>
                <a:latin typeface="Helvetica" pitchFamily="2" charset="0"/>
              </a:rPr>
              <a:t>,” Bulletin of Electrical Engineering and Informatics, vol. 14, no. 1, pp. 438–446, 2025.</a:t>
            </a:r>
          </a:p>
          <a:p>
            <a:r>
              <a:rPr lang="en-IN" sz="1000" dirty="0">
                <a:solidFill>
                  <a:srgbClr val="000000"/>
                </a:solidFill>
                <a:effectLst/>
                <a:latin typeface="Helvetica" pitchFamily="2" charset="0"/>
              </a:rPr>
              <a:t>A. Y. Balogun, O. O. Olaniyi, A. O. Olisa, M. O. Gbadebo, and N. C. </a:t>
            </a:r>
            <a:r>
              <a:rPr lang="en-IN" sz="1000" dirty="0" err="1">
                <a:solidFill>
                  <a:srgbClr val="000000"/>
                </a:solidFill>
                <a:effectLst/>
                <a:latin typeface="Helvetica" pitchFamily="2" charset="0"/>
              </a:rPr>
              <a:t>Chinye</a:t>
            </a:r>
            <a:r>
              <a:rPr lang="en-IN" sz="1000" dirty="0">
                <a:solidFill>
                  <a:srgbClr val="000000"/>
                </a:solidFill>
                <a:effectLst/>
                <a:latin typeface="Helvetica" pitchFamily="2" charset="0"/>
              </a:rPr>
              <a:t>, “Enhancing incident response strategies in us healthcare cybersecurity,” Available at SSRN 5117971, 2025.</a:t>
            </a:r>
          </a:p>
          <a:p>
            <a:r>
              <a:rPr lang="en-IN" sz="1000" dirty="0">
                <a:solidFill>
                  <a:srgbClr val="000000"/>
                </a:solidFill>
                <a:effectLst/>
                <a:latin typeface="Helvetica" pitchFamily="2" charset="0"/>
              </a:rPr>
              <a:t>J. Suomalainen, I. Ahmad, A. Shajan, and T. </a:t>
            </a:r>
            <a:r>
              <a:rPr lang="en-IN" sz="1000" dirty="0" err="1">
                <a:solidFill>
                  <a:srgbClr val="000000"/>
                </a:solidFill>
                <a:effectLst/>
                <a:latin typeface="Helvetica" pitchFamily="2" charset="0"/>
              </a:rPr>
              <a:t>Savunen</a:t>
            </a:r>
            <a:r>
              <a:rPr lang="en-IN" sz="1000" dirty="0">
                <a:solidFill>
                  <a:srgbClr val="000000"/>
                </a:solidFill>
                <a:effectLst/>
                <a:latin typeface="Helvetica" pitchFamily="2" charset="0"/>
              </a:rPr>
              <a:t>, “Cybersecurity for tactical 6g networks: Threats, architecture, and intelligence,” Future Generation Computer Systems, vol. 162, p. 107500, 2025.</a:t>
            </a:r>
          </a:p>
          <a:p>
            <a:r>
              <a:rPr lang="en-IN" sz="1000" dirty="0">
                <a:solidFill>
                  <a:srgbClr val="000000"/>
                </a:solidFill>
                <a:effectLst/>
                <a:latin typeface="Helvetica" pitchFamily="2" charset="0"/>
              </a:rPr>
              <a:t>H. Zhang, Z. Zhang, and L. Chen, “Toward zero trust in 5g industrial internet collaboration systems,” Digital Communications and Networks, vol. 11, no. 2, pp. 547–555, 2025.</a:t>
            </a:r>
          </a:p>
          <a:p>
            <a:r>
              <a:rPr lang="en-IN" sz="1000" dirty="0">
                <a:solidFill>
                  <a:srgbClr val="000000"/>
                </a:solidFill>
                <a:effectLst/>
                <a:latin typeface="Helvetica" pitchFamily="2" charset="0"/>
              </a:rPr>
              <a:t>X. Ma, F. Fang, and X. Wang, “Dynamic authentication and granularized authorization with a cross-domain zero trust architecture for federated learning in large-scale </a:t>
            </a:r>
            <a:r>
              <a:rPr lang="en-IN" sz="1000" dirty="0" err="1">
                <a:solidFill>
                  <a:srgbClr val="000000"/>
                </a:solidFill>
                <a:effectLst/>
                <a:latin typeface="Helvetica" pitchFamily="2" charset="0"/>
              </a:rPr>
              <a:t>iot</a:t>
            </a:r>
            <a:r>
              <a:rPr lang="en-IN" sz="1000" dirty="0">
                <a:solidFill>
                  <a:srgbClr val="000000"/>
                </a:solidFill>
                <a:effectLst/>
                <a:latin typeface="Helvetica" pitchFamily="2" charset="0"/>
              </a:rPr>
              <a:t> networks,” </a:t>
            </a:r>
            <a:r>
              <a:rPr lang="en-IN" sz="1000" dirty="0" err="1">
                <a:solidFill>
                  <a:srgbClr val="000000"/>
                </a:solidFill>
                <a:effectLst/>
                <a:latin typeface="Helvetica" pitchFamily="2" charset="0"/>
              </a:rPr>
              <a:t>arXiv</a:t>
            </a:r>
            <a:r>
              <a:rPr lang="en-IN" sz="1000" dirty="0">
                <a:solidFill>
                  <a:srgbClr val="000000"/>
                </a:solidFill>
                <a:effectLst/>
                <a:latin typeface="Helvetica" pitchFamily="2" charset="0"/>
              </a:rPr>
              <a:t> preprint arXiv:2501.03601, 2025</a:t>
            </a:r>
          </a:p>
          <a:p>
            <a:r>
              <a:rPr lang="en-IN" sz="1000" dirty="0">
                <a:solidFill>
                  <a:srgbClr val="000000"/>
                </a:solidFill>
                <a:effectLst/>
                <a:latin typeface="Helvetica" pitchFamily="2" charset="0"/>
              </a:rPr>
              <a:t>S. A. Khowaja, P. </a:t>
            </a:r>
            <a:r>
              <a:rPr lang="en-IN" sz="1000" dirty="0" err="1">
                <a:solidFill>
                  <a:srgbClr val="000000"/>
                </a:solidFill>
                <a:effectLst/>
                <a:latin typeface="Helvetica" pitchFamily="2" charset="0"/>
              </a:rPr>
              <a:t>Khuwaja</a:t>
            </a:r>
            <a:r>
              <a:rPr lang="en-IN" sz="1000" dirty="0">
                <a:solidFill>
                  <a:srgbClr val="000000"/>
                </a:solidFill>
                <a:effectLst/>
                <a:latin typeface="Helvetica" pitchFamily="2" charset="0"/>
              </a:rPr>
              <a:t>, K. Dev, K. Singh, X. Li, N. </a:t>
            </a:r>
            <a:r>
              <a:rPr lang="en-IN" sz="1000" dirty="0" err="1">
                <a:solidFill>
                  <a:srgbClr val="000000"/>
                </a:solidFill>
                <a:effectLst/>
                <a:latin typeface="Helvetica" pitchFamily="2" charset="0"/>
              </a:rPr>
              <a:t>Bartzoudis</a:t>
            </a:r>
            <a:r>
              <a:rPr lang="en-IN" sz="1000" dirty="0">
                <a:solidFill>
                  <a:srgbClr val="000000"/>
                </a:solidFill>
                <a:effectLst/>
                <a:latin typeface="Helvetica" pitchFamily="2" charset="0"/>
              </a:rPr>
              <a:t>, and C. R. Comsa, “Block encryption layer (</a:t>
            </a:r>
            <a:r>
              <a:rPr lang="en-IN" sz="1000" dirty="0" err="1">
                <a:solidFill>
                  <a:srgbClr val="000000"/>
                </a:solidFill>
                <a:effectLst/>
                <a:latin typeface="Helvetica" pitchFamily="2" charset="0"/>
              </a:rPr>
              <a:t>bela</a:t>
            </a:r>
            <a:r>
              <a:rPr lang="en-IN" sz="1000" dirty="0">
                <a:solidFill>
                  <a:srgbClr val="000000"/>
                </a:solidFill>
                <a:effectLst/>
                <a:latin typeface="Helvetica" pitchFamily="2" charset="0"/>
              </a:rPr>
              <a:t>): Zero-trust </a:t>
            </a:r>
            <a:r>
              <a:rPr lang="en-IN" sz="1000" dirty="0" err="1">
                <a:solidFill>
                  <a:srgbClr val="000000"/>
                </a:solidFill>
                <a:effectLst/>
                <a:latin typeface="Helvetica" pitchFamily="2" charset="0"/>
              </a:rPr>
              <a:t>defense</a:t>
            </a:r>
            <a:r>
              <a:rPr lang="en-IN" sz="1000" dirty="0">
                <a:solidFill>
                  <a:srgbClr val="000000"/>
                </a:solidFill>
                <a:effectLst/>
                <a:latin typeface="Helvetica" pitchFamily="2" charset="0"/>
              </a:rPr>
              <a:t> against model inversion attacks for federated learning in 5g/6g systems,” IEEE Open Journal of the Communications Society, vol. 6, pp. 807–819, 2025.</a:t>
            </a:r>
          </a:p>
          <a:p>
            <a:r>
              <a:rPr lang="en-IN" sz="1000" dirty="0">
                <a:solidFill>
                  <a:srgbClr val="000000"/>
                </a:solidFill>
                <a:effectLst/>
                <a:latin typeface="Helvetica" pitchFamily="2" charset="0"/>
              </a:rPr>
              <a:t>M. A. Azad, S. Abdullah, J. Arshad, H. Lallie, and Y. H. Ahmed, “Verify and trust: A multidimensional survey of zero-trust security in the age of </a:t>
            </a:r>
            <a:r>
              <a:rPr lang="en-IN" sz="1000" dirty="0" err="1">
                <a:solidFill>
                  <a:srgbClr val="000000"/>
                </a:solidFill>
                <a:effectLst/>
                <a:latin typeface="Helvetica" pitchFamily="2" charset="0"/>
              </a:rPr>
              <a:t>iot</a:t>
            </a:r>
            <a:r>
              <a:rPr lang="en-IN" sz="1000" dirty="0">
                <a:solidFill>
                  <a:srgbClr val="000000"/>
                </a:solidFill>
                <a:effectLst/>
                <a:latin typeface="Helvetica" pitchFamily="2" charset="0"/>
              </a:rPr>
              <a:t>,” Internet of Things, vol. 27, p. 101227, 2024.</a:t>
            </a:r>
          </a:p>
          <a:p>
            <a:r>
              <a:rPr lang="en-IN" sz="1000" dirty="0">
                <a:solidFill>
                  <a:srgbClr val="000000"/>
                </a:solidFill>
                <a:effectLst/>
                <a:latin typeface="Helvetica" pitchFamily="2" charset="0"/>
              </a:rPr>
              <a:t>H. Fang, L. Xu, G. Nan, D. Zheng, H. Zhao, and X. Wang, “Accountable distributed access control with privacy preservation for blockchain- enabled internet of things systems: a zero-trust security scheme,” IEEE Internet of Things Journal, 2025.</a:t>
            </a:r>
          </a:p>
          <a:p>
            <a:r>
              <a:rPr lang="en-IN" sz="1000" dirty="0">
                <a:solidFill>
                  <a:srgbClr val="000000"/>
                </a:solidFill>
                <a:effectLst/>
                <a:latin typeface="Helvetica" pitchFamily="2" charset="0"/>
              </a:rPr>
              <a:t>M. A. Aleisa, “Blockchain-enabled zero trust architecture for privacy-preserving cybersecurity in </a:t>
            </a:r>
            <a:r>
              <a:rPr lang="en-IN" sz="1000" dirty="0" err="1">
                <a:solidFill>
                  <a:srgbClr val="000000"/>
                </a:solidFill>
                <a:effectLst/>
                <a:latin typeface="Helvetica" pitchFamily="2" charset="0"/>
              </a:rPr>
              <a:t>iot</a:t>
            </a:r>
            <a:r>
              <a:rPr lang="en-IN" sz="1000" dirty="0">
                <a:solidFill>
                  <a:srgbClr val="000000"/>
                </a:solidFill>
                <a:effectLst/>
                <a:latin typeface="Helvetica" pitchFamily="2" charset="0"/>
              </a:rPr>
              <a:t> environments,” IEEE Access, 2025.</a:t>
            </a:r>
          </a:p>
          <a:p>
            <a:r>
              <a:rPr lang="en-IN" sz="1000" dirty="0">
                <a:solidFill>
                  <a:srgbClr val="000000"/>
                </a:solidFill>
                <a:effectLst/>
                <a:latin typeface="Helvetica" pitchFamily="2" charset="0"/>
              </a:rPr>
              <a:t>I. U. Din, K. H. Khan, A. </a:t>
            </a:r>
            <a:r>
              <a:rPr lang="en-IN" sz="1000" dirty="0" err="1">
                <a:solidFill>
                  <a:srgbClr val="000000"/>
                </a:solidFill>
                <a:effectLst/>
                <a:latin typeface="Helvetica" pitchFamily="2" charset="0"/>
              </a:rPr>
              <a:t>Almogren</a:t>
            </a:r>
            <a:r>
              <a:rPr lang="en-IN" sz="1000" dirty="0">
                <a:solidFill>
                  <a:srgbClr val="000000"/>
                </a:solidFill>
                <a:effectLst/>
                <a:latin typeface="Helvetica" pitchFamily="2" charset="0"/>
              </a:rPr>
              <a:t>, M. </a:t>
            </a:r>
            <a:r>
              <a:rPr lang="en-IN" sz="1000" dirty="0" err="1">
                <a:solidFill>
                  <a:srgbClr val="000000"/>
                </a:solidFill>
                <a:effectLst/>
                <a:latin typeface="Helvetica" pitchFamily="2" charset="0"/>
              </a:rPr>
              <a:t>Zareei</a:t>
            </a:r>
            <a:r>
              <a:rPr lang="en-IN" sz="1000" dirty="0">
                <a:solidFill>
                  <a:srgbClr val="000000"/>
                </a:solidFill>
                <a:effectLst/>
                <a:latin typeface="Helvetica" pitchFamily="2" charset="0"/>
              </a:rPr>
              <a:t>, and J. A. P. Diaz, Securing the metaverse: A blockchain-enabled zero-trust architecture for virtual environments,” IEEE Access, vol. 12, pp. 92 337–92 347 2024.</a:t>
            </a:r>
          </a:p>
          <a:p>
            <a:r>
              <a:rPr lang="en-IN" sz="1000" dirty="0">
                <a:solidFill>
                  <a:srgbClr val="000000"/>
                </a:solidFill>
                <a:effectLst/>
                <a:latin typeface="Helvetica" pitchFamily="2" charset="0"/>
              </a:rPr>
              <a:t>C. E. Alozie and E. Chinwe, “Developing a cybersecurity framework for protecting critical infrastructure in organizations,” Iconic Research and Engineering Journals, vol. 8, no. 7, pp. 562–576, 2025.</a:t>
            </a:r>
          </a:p>
          <a:p>
            <a:endParaRPr lang="en-IN" sz="1200" dirty="0">
              <a:solidFill>
                <a:srgbClr val="000000"/>
              </a:solidFill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29516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208BD6-2A31-5677-2B53-FD39A887D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18467"/>
            <a:ext cx="5257800" cy="1325563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74710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719</TotalTime>
  <Words>2195</Words>
  <Application>Microsoft Macintosh PowerPoint</Application>
  <PresentationFormat>Widescreen</PresentationFormat>
  <Paragraphs>221</Paragraphs>
  <Slides>23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Aptos</vt:lpstr>
      <vt:lpstr>Aptos Display</vt:lpstr>
      <vt:lpstr>Arial</vt:lpstr>
      <vt:lpstr>Calibri</vt:lpstr>
      <vt:lpstr>Helvetica</vt:lpstr>
      <vt:lpstr>Wingdings</vt:lpstr>
      <vt:lpstr>Office Theme</vt:lpstr>
      <vt:lpstr>Zero Trust Security – An Identity-Based Attack Evaluation in Enterprise Environments</vt:lpstr>
      <vt:lpstr>Outline</vt:lpstr>
      <vt:lpstr>Introduction</vt:lpstr>
      <vt:lpstr>Introduction</vt:lpstr>
      <vt:lpstr>Literature Review</vt:lpstr>
      <vt:lpstr>Literature Review</vt:lpstr>
      <vt:lpstr>Literature Review</vt:lpstr>
      <vt:lpstr>Problem Statement</vt:lpstr>
      <vt:lpstr>Objectives</vt:lpstr>
      <vt:lpstr>Proposed Methodology </vt:lpstr>
      <vt:lpstr>Proposed Methodology </vt:lpstr>
      <vt:lpstr>Proposed Methodology </vt:lpstr>
      <vt:lpstr>Proposed Methodology </vt:lpstr>
      <vt:lpstr>Phase 1 – Reconnaissance and Service Discovery</vt:lpstr>
      <vt:lpstr>Phase 1 - Credential Compromise via LLMNR Poisoning</vt:lpstr>
      <vt:lpstr>Phase 1 - Unauthorized Access via SMB</vt:lpstr>
      <vt:lpstr>Phase 2 – Attack Restriction under Zero Trust Controls</vt:lpstr>
      <vt:lpstr>Result </vt:lpstr>
      <vt:lpstr>Outcome </vt:lpstr>
      <vt:lpstr>References</vt:lpstr>
      <vt:lpstr>References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Akshay Jadhav [MU - Jaipur]</dc:creator>
  <cp:lastModifiedBy>[BTECH-005-2023-24] NAMAN JAIN</cp:lastModifiedBy>
  <cp:revision>19</cp:revision>
  <dcterms:created xsi:type="dcterms:W3CDTF">2025-09-29T05:03:41Z</dcterms:created>
  <dcterms:modified xsi:type="dcterms:W3CDTF">2026-04-14T05:54:30Z</dcterms:modified>
</cp:coreProperties>
</file>