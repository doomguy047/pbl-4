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68" r:id="rId5"/>
    <p:sldId id="259" r:id="rId6"/>
    <p:sldId id="273" r:id="rId7"/>
    <p:sldId id="269" r:id="rId8"/>
    <p:sldId id="260" r:id="rId9"/>
    <p:sldId id="262" r:id="rId10"/>
    <p:sldId id="261" r:id="rId11"/>
    <p:sldId id="270" r:id="rId12"/>
    <p:sldId id="271" r:id="rId13"/>
    <p:sldId id="272" r:id="rId14"/>
    <p:sldId id="275" r:id="rId15"/>
    <p:sldId id="276" r:id="rId16"/>
    <p:sldId id="278" r:id="rId17"/>
    <p:sldId id="280" r:id="rId18"/>
    <p:sldId id="266" r:id="rId19"/>
    <p:sldId id="267" r:id="rId20"/>
    <p:sldId id="263" r:id="rId21"/>
    <p:sldId id="26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225"/>
    <p:restoredTop sz="87559"/>
  </p:normalViewPr>
  <p:slideViewPr>
    <p:cSldViewPr snapToGrid="0">
      <p:cViewPr>
        <p:scale>
          <a:sx n="89" d="100"/>
          <a:sy n="89" d="100"/>
        </p:scale>
        <p:origin x="14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13F9D-8DA4-0F48-B748-3CC9B9AC2730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BCEF02-44C6-764A-A959-9DB6DD28C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630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www.sentinelone.com</a:t>
            </a:r>
            <a:r>
              <a:rPr lang="en-US" dirty="0"/>
              <a:t>/cybersecurity-101/identity-security/active-directory-monitoring/ (Source for 90%)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BCEF02-44C6-764A-A959-9DB6DD28C3B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0283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www.gartner.com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/newsroom/press-releases/2023-01-23-gartner-predicts-10-percent-of-large-enterprises-will-have-a-mature-and-measurable-zero-trust-program-in-place-by-2026</a:t>
            </a:r>
          </a:p>
          <a:p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www.gartner.com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/newsroom/press-releases/2024-04-22-gartner-survey-reveals-63-percent-of-organizations-worldwide-have-implemented-a-zero-trust-strategy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BCEF02-44C6-764A-A959-9DB6DD28C3B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576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9A7-DC78-3CB3-7F00-929E421E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783-8B8F-B836-F68D-81BDF16A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82BE-60AE-D797-7868-81B8EF46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0722-9270-7EDB-981C-B923AA0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731-DBE6-4F74-E2CF-7659DBC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AFF-E64A-AF8D-BBC2-E5AB94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B9A4-3B4F-7FE6-9B28-F5EF72B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3C0-5E6E-B28A-6C22-06D9AC47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FA3B-4073-0F86-8AC8-81E0E4C3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69F-612E-B784-B48A-95AA0791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66B-106E-C76B-9CE8-1B9A4AE5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AF0E-E8F2-1B19-B65C-0E1CC081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FFB13-732B-DEF8-DBEC-5F73E23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3C03-C9D7-F051-B57E-8DA06873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14/04/26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1B14-3A56-41BB-4E4A-4735998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4A9C-028F-0B55-463A-1087581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66EC-9430-6B3D-E0CE-0A71B38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26AD1-F80A-C09B-B640-E65D99E6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293B4-0027-A04C-BA3E-441C93A1D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42C3-BCA9-FB95-D8DC-7F3044AD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8EFB4-7BB2-F8E3-21FC-7E4A10DFD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1C773-744A-FCD3-C078-3DC992C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14/04/26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6583-570F-F397-D583-9963BD0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8FC52-BDE3-9E21-7004-9001CC6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7DB-BC11-A965-7D47-A830627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9EBB-66AC-0A22-FB25-AA24D18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14/04/26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C889-A42D-7ECD-6189-48F6199C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D6C85-1A5C-85A2-D47F-73050C49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A96-DA53-0AED-0F58-E803782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14/04/26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08AC-42F9-A3E6-20C6-19B6AFB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749-EC75-7164-FBE8-61C5FD95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E5F6-B24D-5E61-DC38-DA3F87B3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E6B7-31E9-4177-5C1F-03A7DBD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0E19-657E-B541-E036-959BA418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AEC1-909F-60C3-702B-6244A8A7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14/04/26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E6BA-2E7B-3E57-2F0C-5F2FD1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1D75-64B2-1389-FADB-ED9520B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62D-CF25-FD3A-5B0C-AFA7F0A7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E524-18D7-464E-3F34-14CBF4862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348-99C4-F005-5D92-24A299F9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898F6-D595-1FDE-2158-79E6686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14/04/26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7F9F-625D-1107-9BCE-138B298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0215-9ED1-CB53-652D-46D93AD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E86-64B7-9F0A-5001-6F43A0F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D706-8AAA-2524-04BB-26C46242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778-061C-459E-CD0C-58DCA0CF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E4EF-7849-CFF9-1385-7BDB42DF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96F9-D0E3-05A9-C32F-CCFCFCE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4E30-06E1-5212-4B6D-25886B9C3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C275C-3D2D-2452-9149-89BBE7CA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31ED-A5B2-3FF2-8E5C-283664AB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8846-9586-A23A-3D98-740B85E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7319-B31F-9567-7E64-8BEAB1A3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6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79A75-0843-3E26-FA3D-7955B43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EE1-247A-E887-762B-4BC2DBFD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F53D-E00E-7D7F-402F-506A960A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14/04/26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DC96-5252-D529-FF28-16B0D99D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C6E2-66C6-AF10-CC28-03DE3A9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542" y="2732221"/>
            <a:ext cx="8955506" cy="1433498"/>
          </a:xfrm>
        </p:spPr>
        <p:txBody>
          <a:bodyPr>
            <a:noAutofit/>
          </a:bodyPr>
          <a:lstStyle/>
          <a:p>
            <a:r>
              <a:rPr lang="en-IN" sz="4000" b="1" dirty="0"/>
              <a:t>Zero Trust Security – An Identity-Based Attack Evaluation in Enterprise Environments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/>
          <a:lstStyle/>
          <a:p>
            <a:r>
              <a:rPr lang="en-IN" dirty="0"/>
              <a:t>Submitted By:</a:t>
            </a:r>
            <a:br>
              <a:rPr lang="en-IN" dirty="0"/>
            </a:br>
            <a:r>
              <a:rPr lang="en-IN" dirty="0"/>
              <a:t>NAMAN JAIN</a:t>
            </a:r>
          </a:p>
          <a:p>
            <a:r>
              <a:rPr lang="en-IN" dirty="0"/>
              <a:t>23FE10CSE00031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Supervised By:</a:t>
            </a:r>
            <a:br>
              <a:rPr lang="en-IN" dirty="0"/>
            </a:br>
            <a:r>
              <a:rPr lang="en-IN" dirty="0"/>
              <a:t>Dr. Susheela Vishnoi</a:t>
            </a:r>
          </a:p>
          <a:p>
            <a:endParaRPr lang="en-IN" dirty="0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7CFC10-8826-949B-B117-FA84896D3D5A}"/>
              </a:ext>
            </a:extLst>
          </p:cNvPr>
          <p:cNvSpPr txBox="1"/>
          <p:nvPr/>
        </p:nvSpPr>
        <p:spPr>
          <a:xfrm>
            <a:off x="1899557" y="4035090"/>
            <a:ext cx="8392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Awareness-driven experimental evaluation of identity-based attacks under weak and Zero Trust configurations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Proposed Methodology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Results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Outcome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References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A96B-B72E-0C72-F61B-C99183D10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1CBD1-1236-BD10-F9B4-E2675BA38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Active Directory in Modern Enterprises</a:t>
            </a:r>
          </a:p>
          <a:p>
            <a:r>
              <a:rPr lang="en-IN" sz="2400" dirty="0"/>
              <a:t>Active Directory serves as the backbone of enterprise identity and access management.</a:t>
            </a:r>
          </a:p>
          <a:p>
            <a:r>
              <a:rPr lang="en-IN" sz="2400" dirty="0"/>
              <a:t>It provides centralized authentication, authorization, and account control.</a:t>
            </a:r>
          </a:p>
          <a:p>
            <a:r>
              <a:rPr lang="en-IN" sz="2400" dirty="0"/>
              <a:t>Identity-based attacks are among the most common enterprise threat vectors.</a:t>
            </a:r>
          </a:p>
          <a:p>
            <a:r>
              <a:rPr lang="en-IN" sz="2400" dirty="0"/>
              <a:t>Credential compromise often enables reconnaissance and lateral movement.</a:t>
            </a:r>
          </a:p>
          <a:p>
            <a:r>
              <a:rPr lang="en-IN" sz="2400" dirty="0"/>
              <a:t>AD is a high-value target in enterprise environments.</a:t>
            </a:r>
          </a:p>
          <a:p>
            <a:r>
              <a:rPr lang="en-IN" sz="2400" dirty="0"/>
              <a:t>Over 90% of enterprises rely on Active Directory or AD-based identity systems for authentication and access control.</a:t>
            </a:r>
          </a:p>
        </p:txBody>
      </p:sp>
    </p:spTree>
    <p:extLst>
      <p:ext uri="{BB962C8B-B14F-4D97-AF65-F5344CB8AC3E}">
        <p14:creationId xmlns:p14="http://schemas.microsoft.com/office/powerpoint/2010/main" val="287897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8CE7B-AC61-C6DB-F824-001BF0DD3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45C67-8BF2-3658-3E50-0DF89C34D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08DB4-BE49-780F-6538-686CC7B3C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Shift Towards Zero Trust Security</a:t>
            </a:r>
          </a:p>
          <a:p>
            <a:r>
              <a:rPr lang="en-IN" sz="2400" dirty="0"/>
              <a:t>Modern enterprises adopt Zero Trust security principles.</a:t>
            </a:r>
          </a:p>
          <a:p>
            <a:r>
              <a:rPr lang="en-IN" sz="2400" dirty="0"/>
              <a:t>63% of organizations worldwide have implemented a Zero Trust strategy.</a:t>
            </a:r>
          </a:p>
          <a:p>
            <a:r>
              <a:rPr lang="en-IN" sz="2400" dirty="0"/>
              <a:t>Only 10% of large enterprises are expected to achieve mature Zero Trust implementation by 2026.</a:t>
            </a:r>
          </a:p>
          <a:p>
            <a:r>
              <a:rPr lang="en-IN" sz="2400" dirty="0"/>
              <a:t>Enforcement of least privilege access policies.</a:t>
            </a:r>
          </a:p>
          <a:p>
            <a:r>
              <a:rPr lang="en-IN" sz="2400" dirty="0"/>
              <a:t>Policy-based hardening through Group Policy (GPO).</a:t>
            </a:r>
          </a:p>
          <a:p>
            <a:r>
              <a:rPr lang="en-IN" sz="2400" dirty="0"/>
              <a:t>Host-based firewall enforcement and segmentation.</a:t>
            </a:r>
          </a:p>
          <a:p>
            <a:r>
              <a:rPr lang="en-IN" sz="2400" dirty="0"/>
              <a:t>Secure-by-default configurations alter attack outcomes.</a:t>
            </a:r>
          </a:p>
        </p:txBody>
      </p:sp>
    </p:spTree>
    <p:extLst>
      <p:ext uri="{BB962C8B-B14F-4D97-AF65-F5344CB8AC3E}">
        <p14:creationId xmlns:p14="http://schemas.microsoft.com/office/powerpoint/2010/main" val="2475984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647D-9B85-4135-FDC8-4412998CA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5F665-7E3B-0A75-0EE5-8FA0D35D2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Exploitation-Focused Active Directory Studies</a:t>
            </a:r>
          </a:p>
          <a:p>
            <a:pPr marL="0" indent="0">
              <a:buNone/>
            </a:pPr>
            <a:r>
              <a:rPr lang="en-IN" sz="2400" dirty="0"/>
              <a:t>Many academic studies demonstrate:</a:t>
            </a:r>
          </a:p>
          <a:p>
            <a:r>
              <a:rPr lang="en-IN" sz="2400" dirty="0"/>
              <a:t>Privilege escalation</a:t>
            </a:r>
          </a:p>
          <a:p>
            <a:r>
              <a:rPr lang="en-IN" sz="2400" dirty="0"/>
              <a:t>Lateral movement</a:t>
            </a:r>
          </a:p>
          <a:p>
            <a:r>
              <a:rPr lang="en-IN" sz="2400" dirty="0"/>
              <a:t>Domain takeover</a:t>
            </a:r>
          </a:p>
          <a:p>
            <a:pPr marL="0" indent="0">
              <a:buNone/>
            </a:pPr>
            <a:r>
              <a:rPr lang="en-IN" sz="2400" dirty="0"/>
              <a:t>Often assume:</a:t>
            </a:r>
          </a:p>
          <a:p>
            <a:r>
              <a:rPr lang="en-IN" sz="2400" dirty="0"/>
              <a:t>Weak configurations</a:t>
            </a:r>
          </a:p>
          <a:p>
            <a:r>
              <a:rPr lang="en-IN" sz="2400" dirty="0"/>
              <a:t>Disabled security controls</a:t>
            </a:r>
          </a:p>
          <a:p>
            <a:pPr marL="0" indent="0">
              <a:buNone/>
            </a:pPr>
            <a:r>
              <a:rPr lang="en-IN" sz="2400" dirty="0"/>
              <a:t>As a result, there is limited evaluation of attack </a:t>
            </a:r>
            <a:r>
              <a:rPr lang="en-IN" sz="2400" dirty="0" err="1"/>
              <a:t>behavior</a:t>
            </a:r>
            <a:r>
              <a:rPr lang="en-IN" sz="2400" dirty="0"/>
              <a:t> under enforced security controls.</a:t>
            </a:r>
          </a:p>
        </p:txBody>
      </p:sp>
    </p:spTree>
    <p:extLst>
      <p:ext uri="{BB962C8B-B14F-4D97-AF65-F5344CB8AC3E}">
        <p14:creationId xmlns:p14="http://schemas.microsoft.com/office/powerpoint/2010/main" val="310308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639EA-873A-DCEA-25DB-295E3A9CA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BEF3951-06AC-9FE8-5DB5-E3AC2D8B93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4569124"/>
              </p:ext>
            </p:extLst>
          </p:nvPr>
        </p:nvGraphicFramePr>
        <p:xfrm>
          <a:off x="635000" y="1298470"/>
          <a:ext cx="10515600" cy="53723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21547953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2004568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2256419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3421356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53622006"/>
                    </a:ext>
                  </a:extLst>
                </a:gridCol>
              </a:tblGrid>
              <a:tr h="361394">
                <a:tc>
                  <a:txBody>
                    <a:bodyPr/>
                    <a:lstStyle/>
                    <a:p>
                      <a:r>
                        <a:rPr lang="en-US" sz="1000" dirty="0"/>
                        <a:t>Paper/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Focus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Key Contribution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Limitation/ Research Gap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5200112"/>
                  </a:ext>
                </a:extLst>
              </a:tr>
              <a:tr h="623776">
                <a:tc>
                  <a:txBody>
                    <a:bodyPr/>
                    <a:lstStyle/>
                    <a:p>
                      <a:r>
                        <a:rPr lang="en-US" sz="1000" dirty="0"/>
                        <a:t>ZTA + Federated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Cross-domain IoT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Simulation with decentralized FL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Privacy-Preserving </a:t>
                      </a:r>
                      <a:r>
                        <a:rPr lang="en-US" sz="1000" dirty="0"/>
                        <a:t>authentication and adaptive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Lacks enterprise environment and real attack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949047"/>
                  </a:ext>
                </a:extLst>
              </a:tr>
              <a:tr h="623776">
                <a:tc>
                  <a:txBody>
                    <a:bodyPr/>
                    <a:lstStyle/>
                    <a:p>
                      <a:r>
                        <a:rPr lang="en-US" sz="1000" dirty="0"/>
                        <a:t>BELA (Model Inversion Protection)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ML security in federated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Encryption-based gradient protection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Prevents data leakage from model updates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Limited to ML domain; no network-level implementation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00605"/>
                  </a:ext>
                </a:extLst>
              </a:tr>
              <a:tr h="445554">
                <a:tc>
                  <a:txBody>
                    <a:bodyPr/>
                    <a:lstStyle/>
                    <a:p>
                      <a:r>
                        <a:rPr lang="en-US" sz="1000" dirty="0"/>
                        <a:t>ZTA Adoption Factors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Organizational ZTA adoption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Survey + statistical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Identifies key factors like IAM, segmentation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No experimental or technical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976190"/>
                  </a:ext>
                </a:extLst>
              </a:tr>
              <a:tr h="445554">
                <a:tc>
                  <a:txBody>
                    <a:bodyPr/>
                    <a:lstStyle/>
                    <a:p>
                      <a:r>
                        <a:rPr lang="en-US" sz="1000" dirty="0"/>
                        <a:t>Healthcare Incident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AI-based incident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Machine learning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Improved detection accuracy and response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Not focused on Zero Trust architecture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213253"/>
                  </a:ext>
                </a:extLst>
              </a:tr>
              <a:tr h="361394">
                <a:tc>
                  <a:txBody>
                    <a:bodyPr/>
                    <a:lstStyle/>
                    <a:p>
                      <a:r>
                        <a:rPr lang="en-US" sz="1000" dirty="0"/>
                        <a:t>Zero Trust Survey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General ZTA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Literature 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Defines core principles and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Conceptual; lacks implementation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636440"/>
                  </a:ext>
                </a:extLst>
              </a:tr>
              <a:tr h="361394">
                <a:tc>
                  <a:txBody>
                    <a:bodyPr/>
                    <a:lstStyle/>
                    <a:p>
                      <a:r>
                        <a:rPr lang="en-US" sz="1000" dirty="0"/>
                        <a:t>ZTA in Cloud Networks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Cloud security with ZTA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Analytical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Highlights micro-segmentation and least privilege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No attack simulation or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4792831"/>
                  </a:ext>
                </a:extLst>
              </a:tr>
              <a:tr h="445554">
                <a:tc>
                  <a:txBody>
                    <a:bodyPr/>
                    <a:lstStyle/>
                    <a:p>
                      <a:r>
                        <a:rPr lang="en-US" sz="1000" dirty="0"/>
                        <a:t>Blockchain + ZTA (Finance/Metaverse)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Trust enhancement using blockchain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Conceptual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Taper-proof IAM and trust mechanisms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High complexity; impractical for real-world labs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374666"/>
                  </a:ext>
                </a:extLst>
              </a:tr>
              <a:tr h="361394">
                <a:tc>
                  <a:txBody>
                    <a:bodyPr/>
                    <a:lstStyle/>
                    <a:p>
                      <a:r>
                        <a:rPr lang="en-US" sz="1000" dirty="0"/>
                        <a:t>5G Industrial Zero Trust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Industrial network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Architectural + gap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Continuous authentication and trust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Implementation challenges not validated experimentally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825816"/>
                  </a:ext>
                </a:extLst>
              </a:tr>
              <a:tr h="361394">
                <a:tc>
                  <a:txBody>
                    <a:bodyPr/>
                    <a:lstStyle/>
                    <a:p>
                      <a:r>
                        <a:rPr lang="en-US" sz="1000" dirty="0"/>
                        <a:t>Edge Computing DDoS + ZTA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Edge security + behavioral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Simulation with ML-based anomaly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Improved DDoS detection and resilience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Simulation-based; lacks enterprise attack scenarios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1395326"/>
                  </a:ext>
                </a:extLst>
              </a:tr>
              <a:tr h="361394">
                <a:tc>
                  <a:txBody>
                    <a:bodyPr/>
                    <a:lstStyle/>
                    <a:p>
                      <a:r>
                        <a:rPr lang="en-US" sz="1000" dirty="0"/>
                        <a:t>Access Layer ZTA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Network access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Trust evaluation (fuzzy logic)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Dynamic trust-based access decisions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Limited real-world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832873"/>
                  </a:ext>
                </a:extLst>
              </a:tr>
              <a:tr h="445554">
                <a:tc>
                  <a:txBody>
                    <a:bodyPr/>
                    <a:lstStyle/>
                    <a:p>
                      <a:r>
                        <a:rPr lang="en-US" sz="1000" dirty="0"/>
                        <a:t>Enterprise ZTA Security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Enterprise security enhancement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Case studies +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Reduces insider threats and lateral movements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No controlled penetration testing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3202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6967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09088-BA49-1767-38AE-B9BF84E6B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6AA0D-8DCF-FE46-5F34-36B1D5017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B07D9-2104-041F-980D-FFDD7B486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Identified Research Gap</a:t>
            </a:r>
          </a:p>
          <a:p>
            <a:r>
              <a:rPr lang="en-IN" sz="2400" dirty="0"/>
              <a:t>Limited focus on failed attack </a:t>
            </a:r>
            <a:r>
              <a:rPr lang="en-IN" sz="2400" dirty="0" err="1"/>
              <a:t>behavior</a:t>
            </a:r>
            <a:r>
              <a:rPr lang="en-IN" sz="2400" dirty="0"/>
              <a:t>.</a:t>
            </a:r>
          </a:p>
          <a:p>
            <a:r>
              <a:rPr lang="en-IN" sz="2400" dirty="0"/>
              <a:t>Insufficient evaluation of enforced security policies.</a:t>
            </a:r>
          </a:p>
          <a:p>
            <a:r>
              <a:rPr lang="en-IN" sz="2400" dirty="0"/>
              <a:t>Limited analysis of log-based detection artifacts.</a:t>
            </a:r>
          </a:p>
          <a:p>
            <a:r>
              <a:rPr lang="en-IN" sz="2400" dirty="0"/>
              <a:t>Need for awareness-driven evaluation of defensive mechanisms.</a:t>
            </a:r>
          </a:p>
        </p:txBody>
      </p:sp>
    </p:spTree>
    <p:extLst>
      <p:ext uri="{BB962C8B-B14F-4D97-AF65-F5344CB8AC3E}">
        <p14:creationId xmlns:p14="http://schemas.microsoft.com/office/powerpoint/2010/main" val="3110926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Modern Active Directory environments increasingly adopt Zero Trust-aligned hardening and segmentation.</a:t>
            </a:r>
          </a:p>
          <a:p>
            <a:r>
              <a:rPr lang="en-IN" sz="2400" dirty="0"/>
              <a:t>However, most academic demonstrations do not evaluate how identity-based attacks behave under enforced security controls.</a:t>
            </a:r>
          </a:p>
        </p:txBody>
      </p:sp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E25AA-71BA-D0F6-3993-32491BD06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Model an SMB-based identity attack chain from discovery to file access on Windows 11.</a:t>
            </a:r>
          </a:p>
          <a:p>
            <a:r>
              <a:rPr lang="en-IN" dirty="0"/>
              <a:t>Assess NTLMv2/SAM exposure and potential for escalation and lateral movement. </a:t>
            </a:r>
          </a:p>
          <a:p>
            <a:r>
              <a:rPr lang="en-IN" dirty="0"/>
              <a:t>Deploy and harden a Zero Trust Active Directory environment.</a:t>
            </a:r>
          </a:p>
          <a:p>
            <a:r>
              <a:rPr lang="en-IN" dirty="0"/>
              <a:t>Test identity-based attacks using low-privilege credentials against controls.</a:t>
            </a:r>
          </a:p>
          <a:p>
            <a:r>
              <a:rPr lang="en-IN" dirty="0"/>
              <a:t>Evaluate feasibility of Golden and Silver Ticket attacks</a:t>
            </a:r>
          </a:p>
          <a:p>
            <a:r>
              <a:rPr lang="en-IN" dirty="0"/>
              <a:t>Compare attack feasibility between weak and hardened Zero </a:t>
            </a:r>
            <a:r>
              <a:rPr lang="en-IN"/>
              <a:t>Trust environments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Methodology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14B012-9F92-6D1E-D232-6C41615CB437}"/>
              </a:ext>
            </a:extLst>
          </p:cNvPr>
          <p:cNvSpPr txBox="1"/>
          <p:nvPr/>
        </p:nvSpPr>
        <p:spPr>
          <a:xfrm>
            <a:off x="838200" y="1690688"/>
            <a:ext cx="10261600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Lab Architecture: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Windows Server Domain Controller (AD DS)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Windows 11 Domain Client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External attacker system (Kali Linux)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Controlled same-subnet lab environment.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EF1923F-5975-D2F8-455D-57C7454C19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0522" y="3691864"/>
            <a:ext cx="5983152" cy="3166135"/>
          </a:xfrm>
        </p:spPr>
      </p:pic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B40A7-28EB-C525-3417-8857A8512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1274-48E2-36D4-8BE2-580012456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Methodology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F5C9FF-2106-6BA2-3745-98FD6240D82A}"/>
              </a:ext>
            </a:extLst>
          </p:cNvPr>
          <p:cNvSpPr txBox="1"/>
          <p:nvPr/>
        </p:nvSpPr>
        <p:spPr>
          <a:xfrm>
            <a:off x="838200" y="1859340"/>
            <a:ext cx="1026160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Two-Phase Approach:</a:t>
            </a:r>
          </a:p>
          <a:p>
            <a:r>
              <a:rPr lang="en-US" sz="2400" dirty="0"/>
              <a:t>The experimental setup follows a two-phase approach to evaluate attack behavior under different security conditions.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Phase 1: Attack simulation in standalone Windows 11 environment.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Phase 2: Attack simulation in hardened Active Directory environment.</a:t>
            </a:r>
          </a:p>
          <a:p>
            <a:endParaRPr lang="en-US" sz="2400" dirty="0"/>
          </a:p>
          <a:p>
            <a:r>
              <a:rPr lang="en-US" sz="2800" dirty="0"/>
              <a:t>Identity &amp; Policy Configuration: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Domain setup and controller deployment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Creation of standard domain user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Client joined to domain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Low-privilege domain credentials used for attack simulation</a:t>
            </a:r>
          </a:p>
        </p:txBody>
      </p:sp>
    </p:spTree>
    <p:extLst>
      <p:ext uri="{BB962C8B-B14F-4D97-AF65-F5344CB8AC3E}">
        <p14:creationId xmlns:p14="http://schemas.microsoft.com/office/powerpoint/2010/main" val="194784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7AF3B-3E4A-3645-AFD5-C4594A82F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E9D20-8FC8-2BCF-83C3-7CF26A5CF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Methodology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343ED1-2C8F-BE3B-B573-902B32AA5546}"/>
              </a:ext>
            </a:extLst>
          </p:cNvPr>
          <p:cNvSpPr txBox="1"/>
          <p:nvPr/>
        </p:nvSpPr>
        <p:spPr>
          <a:xfrm>
            <a:off x="838200" y="1859340"/>
            <a:ext cx="1026160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Hardening &amp; Policy Enforcement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Group Policy Object (GPO)-based security configuration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LDAP signing enforcement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Kerberos integrity enforcement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NTLM usage restriction policies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Windows Firewall enabled and configured</a:t>
            </a: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757463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1B500-2D85-48D4-1FE2-DAC9AAC08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37203-B538-340F-D3F6-B45F36B7A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Methodology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0D7636-E675-0A29-93DC-C8E574D16B84}"/>
              </a:ext>
            </a:extLst>
          </p:cNvPr>
          <p:cNvSpPr txBox="1"/>
          <p:nvPr/>
        </p:nvSpPr>
        <p:spPr>
          <a:xfrm>
            <a:off x="838200" y="1859340"/>
            <a:ext cx="10261600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Attack Simulation Approach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Network reconnaissance and service enumeration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LLMNR/NBT-NS poisoning for credential capture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NTLMv2 hash capture and password cracking validation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LDAP enumeration testing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Authentication interaction testing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Security controls remained enabled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Log monitoring during attack execution</a:t>
            </a: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377293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BD920-840E-CDC6-FE7A-45E012615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Phase 1 – Reconnaissance and Service Discovery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0F32DA04-C6CF-C029-0B6A-4F7ED01151B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0" y="2620458"/>
            <a:ext cx="6604000" cy="2761672"/>
          </a:xfr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4D95CBF-B4A8-4706-EE63-1841CAF61C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0" y="2620458"/>
            <a:ext cx="5181600" cy="2761672"/>
          </a:xfrm>
        </p:spPr>
      </p:pic>
    </p:spTree>
    <p:extLst>
      <p:ext uri="{BB962C8B-B14F-4D97-AF65-F5344CB8AC3E}">
        <p14:creationId xmlns:p14="http://schemas.microsoft.com/office/powerpoint/2010/main" val="1824680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D96C3-05E6-E1F7-50BD-80C49A421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DCA72-2E8D-CCCE-3C42-0BEBE789F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Phase 1 - Credential Compromise via LLMNR Poisoning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B7B1B4B-8F64-EF6C-88F5-2F1701D6693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668" y="4739458"/>
            <a:ext cx="9884664" cy="2118542"/>
          </a:xfr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373758D-3A93-1D1A-44D3-0A7DC551BBC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668" y="1805276"/>
            <a:ext cx="9884664" cy="2819593"/>
          </a:xfrm>
        </p:spPr>
      </p:pic>
    </p:spTree>
    <p:extLst>
      <p:ext uri="{BB962C8B-B14F-4D97-AF65-F5344CB8AC3E}">
        <p14:creationId xmlns:p14="http://schemas.microsoft.com/office/powerpoint/2010/main" val="2689063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110AE-FF2F-2DC3-B203-68BDDB6BA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1 - Unauthorized Access via SMB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91B85A-22F2-E57D-0B8E-20B5A939C9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350" y="2020094"/>
            <a:ext cx="9893300" cy="3962400"/>
          </a:xfrm>
        </p:spPr>
      </p:pic>
    </p:spTree>
    <p:extLst>
      <p:ext uri="{BB962C8B-B14F-4D97-AF65-F5344CB8AC3E}">
        <p14:creationId xmlns:p14="http://schemas.microsoft.com/office/powerpoint/2010/main" val="24755252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41A5-46B7-E09A-BE3B-410D6A77F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Phase 2 – Attack Restriction under Zero Trust Controls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AABD602-4FB6-2305-CE35-B3B2A37198F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73" y="2406347"/>
            <a:ext cx="11430645" cy="1153348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69FDDD7-EAC8-4855-6F25-80D823E6B42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73" y="3848635"/>
            <a:ext cx="11574453" cy="1528989"/>
          </a:xfrm>
        </p:spPr>
      </p:pic>
    </p:spTree>
    <p:extLst>
      <p:ext uri="{BB962C8B-B14F-4D97-AF65-F5344CB8AC3E}">
        <p14:creationId xmlns:p14="http://schemas.microsoft.com/office/powerpoint/2010/main" val="4291294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C9FAE-C685-2942-D3D4-216A6AC1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B33A6-B209-82E0-3AC4-ED0F2117C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4D796B4-0F2B-7EFB-CA57-18697F8F49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6041076"/>
              </p:ext>
            </p:extLst>
          </p:nvPr>
        </p:nvGraphicFramePr>
        <p:xfrm>
          <a:off x="838200" y="1580606"/>
          <a:ext cx="10515600" cy="37327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29862537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9086397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03954311"/>
                    </a:ext>
                  </a:extLst>
                </a:gridCol>
              </a:tblGrid>
              <a:tr h="604157">
                <a:tc>
                  <a:txBody>
                    <a:bodyPr/>
                    <a:lstStyle/>
                    <a:p>
                      <a:r>
                        <a:rPr lang="en-US" dirty="0"/>
                        <a:t>Attempt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6382765"/>
                  </a:ext>
                </a:extLst>
              </a:tr>
              <a:tr h="604157">
                <a:tc>
                  <a:txBody>
                    <a:bodyPr/>
                    <a:lstStyle/>
                    <a:p>
                      <a:r>
                        <a:rPr lang="en-US" dirty="0"/>
                        <a:t>LLMNR / Credential Capture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Successful (Phase 1) / Blocked (Phase 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Disabled / no fallback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460063"/>
                  </a:ext>
                </a:extLst>
              </a:tr>
              <a:tr h="604157">
                <a:tc>
                  <a:txBody>
                    <a:bodyPr/>
                    <a:lstStyle/>
                    <a:p>
                      <a:r>
                        <a:rPr lang="en-US" dirty="0"/>
                        <a:t>LDAP Enumeration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LDAP signing enforced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5001718"/>
                  </a:ext>
                </a:extLst>
              </a:tr>
              <a:tr h="604157">
                <a:tc>
                  <a:txBody>
                    <a:bodyPr/>
                    <a:lstStyle/>
                    <a:p>
                      <a:r>
                        <a:rPr lang="en-US" dirty="0"/>
                        <a:t>Kerberos Interaction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Restricted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Integrity Enforcement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642060"/>
                  </a:ext>
                </a:extLst>
              </a:tr>
              <a:tr h="604157">
                <a:tc>
                  <a:txBody>
                    <a:bodyPr/>
                    <a:lstStyle/>
                    <a:p>
                      <a:r>
                        <a:rPr lang="en-US" dirty="0"/>
                        <a:t>Lateral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Successful (Phase 1) / Restricted (Phase 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Firewall &amp; segmentation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644457"/>
                  </a:ext>
                </a:extLst>
              </a:tr>
              <a:tr h="604157">
                <a:tc>
                  <a:txBody>
                    <a:bodyPr/>
                    <a:lstStyle/>
                    <a:p>
                      <a:r>
                        <a:rPr lang="en-US" dirty="0"/>
                        <a:t>Privilege Escalation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achieved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Policy enforcement (Least Privilege)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73194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F595345-5E54-7815-2620-77E7DDAB2B10}"/>
              </a:ext>
            </a:extLst>
          </p:cNvPr>
          <p:cNvSpPr txBox="1"/>
          <p:nvPr/>
        </p:nvSpPr>
        <p:spPr>
          <a:xfrm>
            <a:off x="838200" y="5486400"/>
            <a:ext cx="1051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Phase 1 demonstrated successful credential compromise and unauthorized access without exploiting software vulnerabilities.</a:t>
            </a:r>
          </a:p>
          <a:p>
            <a:r>
              <a:rPr lang="en-US" dirty="0"/>
              <a:t>Phase 2 significantly restricted attack progression under enforced Zero Trust controls.</a:t>
            </a:r>
          </a:p>
        </p:txBody>
      </p:sp>
    </p:spTree>
    <p:extLst>
      <p:ext uri="{BB962C8B-B14F-4D97-AF65-F5344CB8AC3E}">
        <p14:creationId xmlns:p14="http://schemas.microsoft.com/office/powerpoint/2010/main" val="36456711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9452-3000-DF4A-F633-2C06CB0E4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084D1-BF8A-599C-4DEE-5FD15C78E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Hardened Active Directory lab successfully implemented</a:t>
            </a:r>
          </a:p>
          <a:p>
            <a:r>
              <a:rPr lang="en-US" dirty="0"/>
              <a:t>Comparative evaluation shows identity-based attacks succeed in weak environments but are restricted under Zero Trust controls</a:t>
            </a:r>
          </a:p>
          <a:p>
            <a:r>
              <a:rPr lang="en-US" dirty="0"/>
              <a:t>Zero Trust-aligned controls validated</a:t>
            </a:r>
          </a:p>
          <a:p>
            <a:r>
              <a:rPr lang="en-US" dirty="0"/>
              <a:t>Defensive enforcement and monitoring demonstrated.</a:t>
            </a:r>
          </a:p>
        </p:txBody>
      </p:sp>
    </p:spTree>
    <p:extLst>
      <p:ext uri="{BB962C8B-B14F-4D97-AF65-F5344CB8AC3E}">
        <p14:creationId xmlns:p14="http://schemas.microsoft.com/office/powerpoint/2010/main" val="21549569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8C38-4C0A-7C78-2FF6-39EB62252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NIST SP 800-207 Zero Trust Architecture Documentation</a:t>
            </a:r>
          </a:p>
          <a:p>
            <a:r>
              <a:rPr lang="en-IN" dirty="0"/>
              <a:t>Microsoft Active Directory Security Documentation</a:t>
            </a:r>
          </a:p>
          <a:p>
            <a:r>
              <a:rPr lang="en-IN" dirty="0"/>
              <a:t>Research on Identity-Based Attacks in Enterprise Environments</a:t>
            </a:r>
          </a:p>
          <a:p>
            <a:r>
              <a:rPr lang="en-IN" dirty="0"/>
              <a:t>Academic studies on AD Hardening and Detection</a:t>
            </a:r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8467"/>
            <a:ext cx="5257800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687</TotalTime>
  <Words>1042</Words>
  <Application>Microsoft Macintosh PowerPoint</Application>
  <PresentationFormat>Widescreen</PresentationFormat>
  <Paragraphs>195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Wingdings</vt:lpstr>
      <vt:lpstr>Office Theme</vt:lpstr>
      <vt:lpstr>Zero Trust Security – An Identity-Based Attack Evaluation in Enterprise Environments</vt:lpstr>
      <vt:lpstr>Outline</vt:lpstr>
      <vt:lpstr>Introduction</vt:lpstr>
      <vt:lpstr>Introduction</vt:lpstr>
      <vt:lpstr>Literature Review</vt:lpstr>
      <vt:lpstr>Literature Review</vt:lpstr>
      <vt:lpstr>Literature Review</vt:lpstr>
      <vt:lpstr>Problem Statement</vt:lpstr>
      <vt:lpstr>Objectives</vt:lpstr>
      <vt:lpstr>Proposed Methodology </vt:lpstr>
      <vt:lpstr>Proposed Methodology </vt:lpstr>
      <vt:lpstr>Proposed Methodology </vt:lpstr>
      <vt:lpstr>Proposed Methodology </vt:lpstr>
      <vt:lpstr>Phase 1 – Reconnaissance and Service Discovery</vt:lpstr>
      <vt:lpstr>Phase 1 - Credential Compromise via LLMNR Poisoning</vt:lpstr>
      <vt:lpstr>Phase 1 - Unauthorized Access via SMB</vt:lpstr>
      <vt:lpstr>Phase 2 – Attack Restriction under Zero Trust Controls</vt:lpstr>
      <vt:lpstr>Result </vt:lpstr>
      <vt:lpstr>Outcome 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[BTECH-005-2023-24] NAMAN JAIN</cp:lastModifiedBy>
  <cp:revision>18</cp:revision>
  <dcterms:created xsi:type="dcterms:W3CDTF">2025-09-29T05:03:41Z</dcterms:created>
  <dcterms:modified xsi:type="dcterms:W3CDTF">2026-04-14T02:56:02Z</dcterms:modified>
</cp:coreProperties>
</file>